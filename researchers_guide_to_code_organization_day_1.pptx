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41_C7738B92.xml" ContentType="application/vnd.ms-powerpoint.comments+xml"/>
  <Override PartName="/ppt/notesSlides/notesSlide2.xml" ContentType="application/vnd.openxmlformats-officedocument.presentationml.notesSlide+xml"/>
  <Override PartName="/ppt/comments/modernComment_14F_BE948CC.xml" ContentType="application/vnd.ms-powerpoint.comments+xml"/>
  <Override PartName="/ppt/comments/modernComment_16C_7F7510F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5"/>
  </p:notesMasterIdLst>
  <p:sldIdLst>
    <p:sldId id="256" r:id="rId2"/>
    <p:sldId id="402" r:id="rId3"/>
    <p:sldId id="310" r:id="rId4"/>
    <p:sldId id="314" r:id="rId5"/>
    <p:sldId id="377" r:id="rId6"/>
    <p:sldId id="378" r:id="rId7"/>
    <p:sldId id="312" r:id="rId8"/>
    <p:sldId id="392" r:id="rId9"/>
    <p:sldId id="393" r:id="rId10"/>
    <p:sldId id="394" r:id="rId11"/>
    <p:sldId id="321" r:id="rId12"/>
    <p:sldId id="396" r:id="rId13"/>
    <p:sldId id="311" r:id="rId14"/>
    <p:sldId id="326" r:id="rId15"/>
    <p:sldId id="327" r:id="rId16"/>
    <p:sldId id="328" r:id="rId17"/>
    <p:sldId id="329" r:id="rId18"/>
    <p:sldId id="313" r:id="rId19"/>
    <p:sldId id="395" r:id="rId20"/>
    <p:sldId id="330" r:id="rId21"/>
    <p:sldId id="331" r:id="rId22"/>
    <p:sldId id="397" r:id="rId23"/>
    <p:sldId id="382" r:id="rId24"/>
    <p:sldId id="332" r:id="rId25"/>
    <p:sldId id="335" r:id="rId26"/>
    <p:sldId id="334" r:id="rId27"/>
    <p:sldId id="333" r:id="rId28"/>
    <p:sldId id="336" r:id="rId29"/>
    <p:sldId id="380" r:id="rId30"/>
    <p:sldId id="381" r:id="rId31"/>
    <p:sldId id="315" r:id="rId32"/>
    <p:sldId id="337" r:id="rId33"/>
    <p:sldId id="338" r:id="rId34"/>
    <p:sldId id="389" r:id="rId35"/>
    <p:sldId id="339" r:id="rId36"/>
    <p:sldId id="341" r:id="rId37"/>
    <p:sldId id="383" r:id="rId38"/>
    <p:sldId id="379" r:id="rId39"/>
    <p:sldId id="340" r:id="rId40"/>
    <p:sldId id="316" r:id="rId41"/>
    <p:sldId id="391" r:id="rId42"/>
    <p:sldId id="342" r:id="rId43"/>
    <p:sldId id="343" r:id="rId44"/>
    <p:sldId id="344" r:id="rId45"/>
    <p:sldId id="345" r:id="rId46"/>
    <p:sldId id="398" r:id="rId47"/>
    <p:sldId id="384" r:id="rId48"/>
    <p:sldId id="317" r:id="rId49"/>
    <p:sldId id="347" r:id="rId50"/>
    <p:sldId id="348" r:id="rId51"/>
    <p:sldId id="385" r:id="rId52"/>
    <p:sldId id="349" r:id="rId53"/>
    <p:sldId id="399" r:id="rId54"/>
    <p:sldId id="318" r:id="rId55"/>
    <p:sldId id="350" r:id="rId56"/>
    <p:sldId id="352" r:id="rId57"/>
    <p:sldId id="351" r:id="rId58"/>
    <p:sldId id="353" r:id="rId59"/>
    <p:sldId id="400" r:id="rId60"/>
    <p:sldId id="401" r:id="rId61"/>
    <p:sldId id="354" r:id="rId62"/>
    <p:sldId id="355" r:id="rId63"/>
    <p:sldId id="386" r:id="rId64"/>
    <p:sldId id="356" r:id="rId65"/>
    <p:sldId id="320" r:id="rId66"/>
    <p:sldId id="363" r:id="rId67"/>
    <p:sldId id="364" r:id="rId68"/>
    <p:sldId id="319" r:id="rId69"/>
    <p:sldId id="357" r:id="rId70"/>
    <p:sldId id="360" r:id="rId71"/>
    <p:sldId id="358" r:id="rId72"/>
    <p:sldId id="359" r:id="rId73"/>
    <p:sldId id="387" r:id="rId74"/>
    <p:sldId id="361" r:id="rId75"/>
    <p:sldId id="362" r:id="rId76"/>
    <p:sldId id="365" r:id="rId77"/>
    <p:sldId id="366" r:id="rId78"/>
    <p:sldId id="367" r:id="rId79"/>
    <p:sldId id="368" r:id="rId80"/>
    <p:sldId id="322" r:id="rId81"/>
    <p:sldId id="369" r:id="rId82"/>
    <p:sldId id="371" r:id="rId83"/>
    <p:sldId id="372" r:id="rId84"/>
    <p:sldId id="373" r:id="rId85"/>
    <p:sldId id="374" r:id="rId86"/>
    <p:sldId id="375" r:id="rId87"/>
    <p:sldId id="370" r:id="rId88"/>
    <p:sldId id="323" r:id="rId89"/>
    <p:sldId id="388" r:id="rId90"/>
    <p:sldId id="324" r:id="rId91"/>
    <p:sldId id="390" r:id="rId92"/>
    <p:sldId id="325" r:id="rId93"/>
    <p:sldId id="376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34"/>
    <p:restoredTop sz="94655"/>
  </p:normalViewPr>
  <p:slideViewPr>
    <p:cSldViewPr snapToGrid="0">
      <p:cViewPr varScale="1">
        <p:scale>
          <a:sx n="89" d="100"/>
          <a:sy n="89" d="100"/>
        </p:scale>
        <p:origin x="16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/Relationships>
</file>

<file path=ppt/comments/modernComment_14F_BE948C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033A9D7-0453-8A45-B864-2D1D2E9EBF2D}" authorId="{A9707694-606A-15A6-FE21-F0F3F82712E9}" created="2026-02-17T21:54:03.97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99837900" sldId="335"/>
      <ac:spMk id="3" creationId="{686F7C1D-B7EF-318A-E8C2-9F95F333AE36}"/>
      <ac:txMk cp="19" len="25">
        <ac:context len="45" hash="1278756429"/>
      </ac:txMk>
    </ac:txMkLst>
    <p188:pos x="4691063" y="555625"/>
    <p188:txBody>
      <a:bodyPr/>
      <a:lstStyle/>
      <a:p>
        <a:r>
          <a:rPr lang="en-US"/>
          <a:t>Make an actual workable project?</a:t>
        </a:r>
      </a:p>
    </p188:txBody>
  </p188:cm>
</p188:cmLst>
</file>

<file path=ppt/comments/modernComment_16C_7F7510F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DC360E-2636-3C48-BB41-C05FD78210C4}" authorId="{A9707694-606A-15A6-FE21-F0F3F82712E9}" created="2026-02-17T23:10:19.86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138378494" sldId="364"/>
      <ac:spMk id="2" creationId="{9ABD2D3A-B43A-94E3-A269-EF7AE02D0CD3}"/>
      <ac:txMk cp="20" len="4">
        <ac:context len="25" hash="1097731163"/>
      </ac:txMk>
    </ac:txMkLst>
    <p188:pos x="5791200" y="656908"/>
    <p188:txBody>
      <a:bodyPr/>
      <a:lstStyle/>
      <a:p>
        <a:r>
          <a:rPr lang="en-US"/>
          <a:t>Edit
- remove git stuff
- add live example
- some common commands
- different types of shells
- plug in analogy
- EXERCISE!</a:t>
        </a:r>
      </a:p>
    </p188:txBody>
  </p188:cm>
</p188:cmLst>
</file>

<file path=ppt/comments/modernComment_141_C7738B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166E6AF-76DC-8949-A388-78BAA650EB0B}" authorId="{A9707694-606A-15A6-FE21-F0F3F82712E9}" created="2026-02-17T21:40:55.96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346238354" sldId="321"/>
      <ac:spMk id="2" creationId="{DF80EE39-173A-2261-222B-2EFF5A9C761D}"/>
      <ac:txMk cp="0" len="18">
        <ac:context len="19" hash="812200804"/>
      </ac:txMk>
    </ac:txMkLst>
    <p188:pos x="4648200" y="656908"/>
    <p188:txBody>
      <a:bodyPr/>
      <a:lstStyle/>
      <a:p>
        <a:r>
          <a:rPr lang="en-US"/>
          <a:t>Add Section explaining in detail?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1_C7738B9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4F_BE948CC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6C_7F7510FE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efrén cruz cortés</a:t>
            </a:r>
          </a:p>
          <a:p>
            <a:r>
              <a:rPr lang="en-US" dirty="0"/>
              <a:t>TA: &lt;TBD&gt;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 about terminology (we’ll be using a lot!)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can’t find my script!</a:t>
            </a:r>
          </a:p>
          <a:p>
            <a:r>
              <a:rPr lang="en-US" dirty="0"/>
              <a:t>My script worked last week but now it’s broken.</a:t>
            </a:r>
          </a:p>
          <a:p>
            <a:r>
              <a:rPr lang="en-US" dirty="0"/>
              <a:t>My script works perfectly in my computer but not when I share it with my colleague.</a:t>
            </a:r>
          </a:p>
          <a:p>
            <a:r>
              <a:rPr lang="en-US" dirty="0"/>
              <a:t>I wrote this a year ago, and I can’t remember what it does.</a:t>
            </a:r>
          </a:p>
          <a:p>
            <a:r>
              <a:rPr lang="en-US" dirty="0"/>
              <a:t>“These parameters worked for me, feel free to change them in the script.”</a:t>
            </a:r>
          </a:p>
          <a:p>
            <a:r>
              <a:rPr lang="en-US" dirty="0"/>
              <a:t>My friend Alice sent me a script, but it says the data is in “Alice/Desktop/Data”?</a:t>
            </a:r>
          </a:p>
          <a:p>
            <a:endParaRPr lang="en-US" dirty="0"/>
          </a:p>
          <a:p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Hierarchy</a:t>
            </a:r>
          </a:p>
          <a:p>
            <a:pPr lvl="1"/>
            <a:r>
              <a:rPr lang="en-US" dirty="0"/>
              <a:t>Containment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the Desktop)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23641"/>
            <a:ext cx="2759562" cy="14738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676" y="5223641"/>
            <a:ext cx="893848" cy="313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Grab a piece of paper and create a draft of your directory structure based on the first exercise.</a:t>
            </a:r>
          </a:p>
          <a:p>
            <a:r>
              <a:rPr lang="en-US"/>
              <a:t>Think about where you will save files by function and by type.</a:t>
            </a:r>
          </a:p>
          <a:p>
            <a:r>
              <a:rPr lang="en-US"/>
              <a:t>You can draw a tree diagram or write it out in linear format as above.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Then, create the respective directories in your computer!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The </a:t>
            </a:r>
            <a:r>
              <a:rPr lang="en-US" i="1"/>
              <a:t>absolute</a:t>
            </a:r>
            <a:r>
              <a:rPr lang="en-US"/>
              <a:t> path of a file is the “address” from the root directory of your computer.</a:t>
            </a:r>
          </a:p>
          <a:p>
            <a:pPr lvl="1"/>
            <a:r>
              <a:rPr lang="en-US" sz="1800">
                <a:latin typeface="Andale Mono" panose="020B0509000000000004" pitchFamily="49" charset="0"/>
              </a:rPr>
              <a:t>/Users/</a:t>
            </a:r>
            <a:r>
              <a:rPr lang="en-US" sz="1800" err="1">
                <a:latin typeface="Andale Mono" panose="020B0509000000000004" pitchFamily="49" charset="0"/>
              </a:rPr>
              <a:t>efren</a:t>
            </a:r>
            <a:r>
              <a:rPr lang="en-US" sz="1800">
                <a:latin typeface="Andale Mono" panose="020B0509000000000004" pitchFamily="49" charset="0"/>
              </a:rPr>
              <a:t>/Desktop/Example/</a:t>
            </a:r>
            <a:r>
              <a:rPr lang="en-US" sz="1800" err="1">
                <a:latin typeface="Andale Mono" panose="020B0509000000000004" pitchFamily="49" charset="0"/>
              </a:rPr>
              <a:t>some_file.txt</a:t>
            </a:r>
            <a:endParaRPr lang="en-US" sz="180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/>
          </a:p>
          <a:p>
            <a:r>
              <a:rPr lang="en-US"/>
              <a:t>A </a:t>
            </a:r>
            <a:r>
              <a:rPr lang="en-US" i="1"/>
              <a:t>relative</a:t>
            </a:r>
            <a:r>
              <a:rPr lang="en-US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>
                <a:latin typeface="Andale Mono" panose="020B0509000000000004" pitchFamily="49" charset="0"/>
              </a:rPr>
              <a:t>/Example/</a:t>
            </a:r>
            <a:r>
              <a:rPr lang="en-US" sz="1800" err="1">
                <a:latin typeface="Andale Mono" panose="020B0509000000000004" pitchFamily="49" charset="0"/>
              </a:rPr>
              <a:t>some_file.txt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Common relative path indicators: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Single dot “.” indicates current directory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Double dots “..” indicate parent directory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“A/B” indicates B is a sub-directory of A</a:t>
            </a:r>
          </a:p>
          <a:p>
            <a:pPr lvl="2"/>
            <a:r>
              <a:rPr lang="en-US"/>
              <a:t>“\” for Windows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“/” at the beginning means “root directory”</a:t>
            </a:r>
          </a:p>
          <a:p>
            <a:pPr lvl="2"/>
            <a:r>
              <a:rPr lang="en-US"/>
              <a:t>“C:” for Windows</a:t>
            </a:r>
          </a:p>
          <a:p>
            <a:pPr lvl="1"/>
            <a:endParaRPr lang="en-US"/>
          </a:p>
          <a:p>
            <a:pPr marL="0" indent="0">
              <a:buNone/>
            </a:pPr>
            <a:r>
              <a:rPr lang="en-US"/>
              <a:t>Assume I’m on the desktop: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>
                <a:latin typeface="Andale Mono" panose="020B0509000000000004" pitchFamily="49" charset="0"/>
              </a:rPr>
              <a:t>./Project_1/Data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folder </a:t>
            </a:r>
            <a:r>
              <a:rPr lang="en-US" b="1" i="1" err="1">
                <a:solidFill>
                  <a:schemeClr val="accent1"/>
                </a:solidFill>
              </a:rPr>
              <a:t>Example_Paths</a:t>
            </a:r>
            <a:endParaRPr lang="en-US" b="1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/Users/you/Desktop/Project_1/data/</a:t>
            </a:r>
            <a:r>
              <a:rPr lang="en-US" err="1"/>
              <a:t>your_data.csv</a:t>
            </a:r>
            <a:endParaRPr lang="en-US"/>
          </a:p>
          <a:p>
            <a:r>
              <a:rPr lang="en-US"/>
              <a:t>/Users/you/Desktop/Project_1/</a:t>
            </a:r>
            <a:r>
              <a:rPr lang="en-US" err="1"/>
              <a:t>auxiliary_file.py</a:t>
            </a:r>
            <a:endParaRPr lang="en-US"/>
          </a:p>
          <a:p>
            <a:r>
              <a:rPr lang="en-US"/>
              <a:t>/Users/you/Desktop/Project_2/</a:t>
            </a:r>
          </a:p>
          <a:p>
            <a:r>
              <a:rPr lang="en-US"/>
              <a:t>/Users/you/Downloads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Recommended:</a:t>
            </a:r>
          </a:p>
          <a:p>
            <a:pPr lvl="1"/>
            <a:r>
              <a:rPr lang="en-US" err="1"/>
              <a:t>snake_case</a:t>
            </a:r>
            <a:r>
              <a:rPr lang="en-US"/>
              <a:t>: </a:t>
            </a:r>
            <a:r>
              <a:rPr lang="en-US" i="1" err="1"/>
              <a:t>my_file.py</a:t>
            </a:r>
            <a:endParaRPr lang="en-US"/>
          </a:p>
          <a:p>
            <a:pPr lvl="1"/>
            <a:r>
              <a:rPr lang="en-US"/>
              <a:t>camelCase: </a:t>
            </a:r>
            <a:r>
              <a:rPr lang="en-US" err="1"/>
              <a:t>myFile.js</a:t>
            </a:r>
            <a:endParaRPr lang="en-US"/>
          </a:p>
          <a:p>
            <a:pPr lvl="1"/>
            <a:r>
              <a:rPr lang="en-US"/>
              <a:t>mixed: </a:t>
            </a:r>
            <a:r>
              <a:rPr lang="en-US" i="1"/>
              <a:t>heartData_Evanston_2025_02_24.csv</a:t>
            </a:r>
          </a:p>
          <a:p>
            <a:pPr lvl="1"/>
            <a:endParaRPr lang="en-US"/>
          </a:p>
          <a:p>
            <a:r>
              <a:rPr lang="en-US"/>
              <a:t>Acceptable:</a:t>
            </a:r>
          </a:p>
          <a:p>
            <a:pPr lvl="1"/>
            <a:r>
              <a:rPr lang="en-US"/>
              <a:t>hyphenated-case (usually for folders): </a:t>
            </a:r>
            <a:r>
              <a:rPr lang="en-US" i="1"/>
              <a:t>project-1</a:t>
            </a:r>
          </a:p>
          <a:p>
            <a:pPr lvl="1"/>
            <a:endParaRPr lang="en-US" i="1"/>
          </a:p>
          <a:p>
            <a:r>
              <a:rPr lang="en-US"/>
              <a:t>Avoid:</a:t>
            </a:r>
          </a:p>
          <a:p>
            <a:pPr lvl="1"/>
            <a:r>
              <a:rPr lang="en-US"/>
              <a:t>spaced names: </a:t>
            </a:r>
            <a:r>
              <a:rPr lang="en-US" i="1"/>
              <a:t>project </a:t>
            </a:r>
            <a:r>
              <a:rPr lang="en-US" i="1" err="1"/>
              <a:t>report.pdf</a:t>
            </a:r>
            <a:endParaRPr lang="en-US" i="1"/>
          </a:p>
          <a:p>
            <a:pPr lvl="1"/>
            <a:r>
              <a:rPr lang="en-US"/>
              <a:t>dotted*: </a:t>
            </a:r>
            <a:r>
              <a:rPr lang="en-US" i="1" err="1"/>
              <a:t>heat.data.evanston.csv</a:t>
            </a:r>
            <a:endParaRPr lang="en-US" i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Occasionally, I generate a lot of data files within a single simulation. In this case, instead of naming:</a:t>
            </a:r>
          </a:p>
          <a:p>
            <a:pPr lvl="1"/>
            <a:r>
              <a:rPr lang="en-US"/>
              <a:t>YYYY_MM_DD_ </a:t>
            </a:r>
            <a:r>
              <a:rPr lang="en-US" err="1"/>
              <a:t>hh_mm_ss</a:t>
            </a:r>
            <a:r>
              <a:rPr lang="en-US"/>
              <a:t> _simulation_001.mat</a:t>
            </a:r>
          </a:p>
          <a:p>
            <a:pPr lvl="1"/>
            <a:r>
              <a:rPr lang="en-US"/>
              <a:t>YYYY_MM_DD_ </a:t>
            </a:r>
            <a:r>
              <a:rPr lang="en-US" err="1"/>
              <a:t>hh_mm_ss</a:t>
            </a:r>
            <a:r>
              <a:rPr lang="en-US"/>
              <a:t> _simulation_002.mat</a:t>
            </a:r>
          </a:p>
          <a:p>
            <a:pPr lvl="1"/>
            <a:r>
              <a:rPr lang="en-US"/>
              <a:t>YYYY_MM_DD_hh_mm_ss_simulation_003.mat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I make a folder </a:t>
            </a:r>
            <a:r>
              <a:rPr lang="en-US" i="1"/>
              <a:t>per run</a:t>
            </a:r>
            <a:r>
              <a:rPr lang="en-US"/>
              <a:t>, and save only the generated data of that run in there:</a:t>
            </a:r>
          </a:p>
          <a:p>
            <a:r>
              <a:rPr lang="en-US" err="1"/>
              <a:t>YYYY_MM_DD_hh_mm_ss</a:t>
            </a:r>
            <a:r>
              <a:rPr lang="en-US"/>
              <a:t>/</a:t>
            </a:r>
          </a:p>
          <a:p>
            <a:pPr lvl="1"/>
            <a:r>
              <a:rPr lang="en-US"/>
              <a:t>simulation_001.mat</a:t>
            </a:r>
          </a:p>
          <a:p>
            <a:pPr lvl="1"/>
            <a:r>
              <a:rPr lang="en-US"/>
              <a:t>simulation_002.mat</a:t>
            </a:r>
          </a:p>
          <a:p>
            <a:pPr lvl="1"/>
            <a:r>
              <a:rPr lang="en-US"/>
              <a:t>simulation_003.mat</a:t>
            </a:r>
          </a:p>
          <a:p>
            <a:pPr lvl="1"/>
            <a:r>
              <a:rPr lang="en-US" err="1"/>
              <a:t>simulation_info.txt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will need an editor to create and edit those files.</a:t>
            </a:r>
          </a:p>
          <a:p>
            <a:r>
              <a:rPr lang="en-US"/>
              <a:t>IDEs help you with this. More on them later.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command line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just saw me use the terminal for my Git commands.</a:t>
            </a:r>
          </a:p>
          <a:p>
            <a:r>
              <a:rPr lang="en-US"/>
              <a:t>Similarly, many tools will require you to run commands from the CLI, if anything just for installation.</a:t>
            </a:r>
          </a:p>
          <a:p>
            <a:r>
              <a:rPr lang="en-US"/>
              <a:t>Usually, these tools have clear instructions on how to use it and what to run.</a:t>
            </a:r>
          </a:p>
          <a:p>
            <a:r>
              <a:rPr lang="en-US"/>
              <a:t>You don’t need to learn everything now. Important steps:</a:t>
            </a:r>
          </a:p>
          <a:p>
            <a:pPr lvl="1"/>
            <a:r>
              <a:rPr lang="en-US"/>
              <a:t>Get comfortable with opening and closing it</a:t>
            </a:r>
          </a:p>
          <a:p>
            <a:pPr lvl="1"/>
            <a:r>
              <a:rPr lang="en-US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We don’t have time to help you install and learn git, but we have materials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r>
              <a:rPr lang="en-US"/>
              <a:t>It’s pretty easy to use, and to get started you need to learn less than 10 words:</a:t>
            </a:r>
          </a:p>
          <a:p>
            <a:pPr lvl="1"/>
            <a:r>
              <a:rPr lang="en-US" err="1"/>
              <a:t>init</a:t>
            </a:r>
            <a:r>
              <a:rPr lang="en-US"/>
              <a:t>, status, add, commit –m, rm, rm --cached</a:t>
            </a:r>
          </a:p>
          <a:p>
            <a:endParaRPr lang="en-US"/>
          </a:p>
          <a:p>
            <a:r>
              <a:rPr lang="en-US"/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Integrated Development Environments (IDEs) have many advantages besides editing scripts</a:t>
            </a:r>
          </a:p>
          <a:p>
            <a:r>
              <a:rPr lang="en-US"/>
              <a:t>Enhance productivity</a:t>
            </a:r>
          </a:p>
          <a:p>
            <a:r>
              <a:rPr lang="en-US"/>
              <a:t>Facilitate project management and Organization</a:t>
            </a:r>
          </a:p>
          <a:p>
            <a:r>
              <a:rPr lang="en-US"/>
              <a:t>Help with version control</a:t>
            </a:r>
          </a:p>
          <a:p>
            <a:r>
              <a:rPr lang="en-US"/>
              <a:t>Help with debugging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Visual Studio Code</a:t>
            </a:r>
          </a:p>
          <a:p>
            <a:pPr lvl="1"/>
            <a:r>
              <a:rPr lang="en-US"/>
              <a:t>Most versatile</a:t>
            </a:r>
          </a:p>
          <a:p>
            <a:pPr lvl="1"/>
            <a:r>
              <a:rPr lang="en-US"/>
              <a:t>Supports many languages</a:t>
            </a:r>
          </a:p>
          <a:p>
            <a:pPr lvl="1"/>
            <a:r>
              <a:rPr lang="en-US"/>
              <a:t>Supports many file formats</a:t>
            </a:r>
          </a:p>
          <a:p>
            <a:pPr lvl="1"/>
            <a:r>
              <a:rPr lang="en-US"/>
              <a:t>Takes a bit of extra time to get used to</a:t>
            </a:r>
          </a:p>
          <a:p>
            <a:r>
              <a:rPr lang="en-US"/>
              <a:t>Jupyter Lab</a:t>
            </a:r>
          </a:p>
          <a:p>
            <a:pPr lvl="1"/>
            <a:r>
              <a:rPr lang="en-US"/>
              <a:t>Ju-</a:t>
            </a:r>
            <a:r>
              <a:rPr lang="en-US" err="1"/>
              <a:t>py</a:t>
            </a:r>
            <a:r>
              <a:rPr lang="en-US"/>
              <a:t>-(</a:t>
            </a:r>
            <a:r>
              <a:rPr lang="en-US" err="1"/>
              <a:t>te</a:t>
            </a:r>
            <a:r>
              <a:rPr lang="en-US"/>
              <a:t>)r: supports Julia, Python, R</a:t>
            </a:r>
          </a:p>
          <a:p>
            <a:r>
              <a:rPr lang="en-US"/>
              <a:t>Others:</a:t>
            </a:r>
          </a:p>
          <a:p>
            <a:pPr lvl="1"/>
            <a:r>
              <a:rPr lang="en-US"/>
              <a:t>RStudio – For R. Best for R and de-facto.</a:t>
            </a:r>
          </a:p>
          <a:p>
            <a:pPr lvl="1"/>
            <a:r>
              <a:rPr lang="en-US"/>
              <a:t>Spyder – Like RStudio for Python</a:t>
            </a:r>
          </a:p>
          <a:p>
            <a:pPr lvl="1"/>
            <a:r>
              <a:rPr lang="en-US"/>
              <a:t>Pluto – Interactive like Jupyter, but nicer.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If your language is proprietary (like MATLAB), you don’t have a choice.</a:t>
            </a:r>
          </a:p>
          <a:p>
            <a:r>
              <a:rPr lang="en-US"/>
              <a:t>If you are only working in R </a:t>
            </a:r>
            <a:r>
              <a:rPr lang="en-US">
                <a:sym typeface="Wingdings" pitchFamily="2" charset="2"/>
              </a:rPr>
              <a:t></a:t>
            </a:r>
            <a:r>
              <a:rPr lang="en-US"/>
              <a:t> RStudio</a:t>
            </a:r>
          </a:p>
          <a:p>
            <a:r>
              <a:rPr lang="en-US"/>
              <a:t>New-</a:t>
            </a:r>
            <a:r>
              <a:rPr lang="en-US" err="1"/>
              <a:t>ish</a:t>
            </a:r>
            <a:r>
              <a:rPr lang="en-US"/>
              <a:t> to python:</a:t>
            </a:r>
          </a:p>
          <a:p>
            <a:pPr lvl="1"/>
            <a:r>
              <a:rPr lang="en-US"/>
              <a:t>Spyder if using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 i="1"/>
              <a:t> </a:t>
            </a:r>
            <a:r>
              <a:rPr lang="en-US"/>
              <a:t>scripts, want to explore variables, variable structure, easily peak into class methods and properties, etc.</a:t>
            </a:r>
          </a:p>
          <a:p>
            <a:pPr lvl="1"/>
            <a:r>
              <a:rPr lang="en-US"/>
              <a:t>Jupyter if using </a:t>
            </a:r>
            <a:r>
              <a:rPr lang="en-US" i="1"/>
              <a:t>.</a:t>
            </a:r>
            <a:r>
              <a:rPr lang="en-US" i="1" err="1"/>
              <a:t>ipynb</a:t>
            </a:r>
            <a:r>
              <a:rPr lang="en-US" i="1"/>
              <a:t> </a:t>
            </a:r>
            <a:r>
              <a:rPr lang="en-US"/>
              <a:t>notebooks, are doing exploration, or following/preparing educational materials.</a:t>
            </a:r>
          </a:p>
          <a:p>
            <a:r>
              <a:rPr lang="en-US"/>
              <a:t>More experienced, multi-language, and a bit of patience:</a:t>
            </a:r>
          </a:p>
          <a:p>
            <a:pPr lvl="1"/>
            <a:r>
              <a:rPr lang="en-US"/>
              <a:t>Visual Studio Code.</a:t>
            </a:r>
          </a:p>
          <a:p>
            <a:pPr lvl="1"/>
            <a:r>
              <a:rPr lang="en-US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BFA4B-0963-9FC3-97CF-B14044CCF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Demonstration – setting up a conda environment</a:t>
            </a:r>
          </a:p>
          <a:p>
            <a:r>
              <a:rPr lang="en-US" dirty="0"/>
              <a:t>Demonstration – setting up an R environment with </a:t>
            </a:r>
            <a:r>
              <a:rPr lang="en-US" dirty="0" err="1"/>
              <a:t>renv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5872</TotalTime>
  <Words>3576</Words>
  <Application>Microsoft Macintosh PowerPoint</Application>
  <PresentationFormat>Widescreen</PresentationFormat>
  <Paragraphs>531</Paragraphs>
  <Slides>93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0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Logistics</vt:lpstr>
      <vt:lpstr>PowerPoint Presentation</vt:lpstr>
      <vt:lpstr>Does this sound familiar?</vt:lpstr>
      <vt:lpstr>Motivation</vt:lpstr>
      <vt:lpstr>Overview</vt:lpstr>
      <vt:lpstr>Day 1- Overview</vt:lpstr>
      <vt:lpstr>PowerPoint Presentation</vt:lpstr>
      <vt:lpstr>PowerPoint Presentation</vt:lpstr>
      <vt:lpstr>PowerPoint Presentation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</vt:lpstr>
      <vt:lpstr>Who’s afraid of the CLI?</vt:lpstr>
      <vt:lpstr>PowerPoint Presentation</vt:lpstr>
      <vt:lpstr>What and why?</vt:lpstr>
      <vt:lpstr>Example</vt:lpstr>
      <vt:lpstr>Git</vt:lpstr>
      <vt:lpstr>GitHub</vt:lpstr>
      <vt:lpstr>.gitignore</vt:lpstr>
      <vt:lpstr>General Principles</vt:lpstr>
      <vt:lpstr>PowerPoint Presentation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Example</vt:lpstr>
      <vt:lpstr>General principles</vt:lpstr>
      <vt:lpstr>PowerPoint Presentation</vt:lpstr>
      <vt:lpstr>Chaos</vt:lpstr>
      <vt:lpstr>PowerPoint Presentation</vt:lpstr>
      <vt:lpstr>Day 1- Overview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109</cp:revision>
  <dcterms:created xsi:type="dcterms:W3CDTF">2025-02-17T21:45:49Z</dcterms:created>
  <dcterms:modified xsi:type="dcterms:W3CDTF">2026-02-18T15:47:25Z</dcterms:modified>
</cp:coreProperties>
</file>