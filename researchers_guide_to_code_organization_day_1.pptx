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402" r:id="rId4"/>
    <p:sldId id="404" r:id="rId5"/>
    <p:sldId id="378" r:id="rId6"/>
    <p:sldId id="403" r:id="rId7"/>
    <p:sldId id="314" r:id="rId8"/>
    <p:sldId id="377" r:id="rId9"/>
    <p:sldId id="312" r:id="rId10"/>
    <p:sldId id="392" r:id="rId11"/>
    <p:sldId id="393" r:id="rId12"/>
    <p:sldId id="394" r:id="rId13"/>
    <p:sldId id="415" r:id="rId14"/>
    <p:sldId id="416" r:id="rId15"/>
    <p:sldId id="396" r:id="rId16"/>
    <p:sldId id="311" r:id="rId17"/>
    <p:sldId id="326" r:id="rId18"/>
    <p:sldId id="327" r:id="rId19"/>
    <p:sldId id="328" r:id="rId20"/>
    <p:sldId id="329" r:id="rId21"/>
    <p:sldId id="313" r:id="rId22"/>
    <p:sldId id="395" r:id="rId23"/>
    <p:sldId id="330" r:id="rId24"/>
    <p:sldId id="331" r:id="rId25"/>
    <p:sldId id="397" r:id="rId26"/>
    <p:sldId id="417" r:id="rId27"/>
    <p:sldId id="382" r:id="rId28"/>
    <p:sldId id="332" r:id="rId29"/>
    <p:sldId id="335" r:id="rId30"/>
    <p:sldId id="334" r:id="rId31"/>
    <p:sldId id="333" r:id="rId32"/>
    <p:sldId id="336" r:id="rId33"/>
    <p:sldId id="380" r:id="rId34"/>
    <p:sldId id="381" r:id="rId35"/>
    <p:sldId id="315" r:id="rId36"/>
    <p:sldId id="337" r:id="rId37"/>
    <p:sldId id="338" r:id="rId38"/>
    <p:sldId id="389" r:id="rId39"/>
    <p:sldId id="405" r:id="rId40"/>
    <p:sldId id="339" r:id="rId41"/>
    <p:sldId id="341" r:id="rId42"/>
    <p:sldId id="383" r:id="rId43"/>
    <p:sldId id="379" r:id="rId44"/>
    <p:sldId id="340" r:id="rId45"/>
    <p:sldId id="316" r:id="rId46"/>
    <p:sldId id="391" r:id="rId47"/>
    <p:sldId id="342" r:id="rId48"/>
    <p:sldId id="343" r:id="rId49"/>
    <p:sldId id="344" r:id="rId50"/>
    <p:sldId id="345" r:id="rId51"/>
    <p:sldId id="398" r:id="rId52"/>
    <p:sldId id="384" r:id="rId53"/>
    <p:sldId id="317" r:id="rId54"/>
    <p:sldId id="347" r:id="rId55"/>
    <p:sldId id="348" r:id="rId56"/>
    <p:sldId id="385" r:id="rId57"/>
    <p:sldId id="349" r:id="rId58"/>
    <p:sldId id="399" r:id="rId59"/>
    <p:sldId id="318" r:id="rId60"/>
    <p:sldId id="350" r:id="rId61"/>
    <p:sldId id="352" r:id="rId62"/>
    <p:sldId id="351" r:id="rId63"/>
    <p:sldId id="353" r:id="rId64"/>
    <p:sldId id="400" r:id="rId65"/>
    <p:sldId id="401" r:id="rId66"/>
    <p:sldId id="354" r:id="rId67"/>
    <p:sldId id="355" r:id="rId68"/>
    <p:sldId id="386" r:id="rId69"/>
    <p:sldId id="356" r:id="rId70"/>
    <p:sldId id="320" r:id="rId71"/>
    <p:sldId id="363" r:id="rId72"/>
    <p:sldId id="407" r:id="rId73"/>
    <p:sldId id="364" r:id="rId74"/>
    <p:sldId id="408" r:id="rId75"/>
    <p:sldId id="409" r:id="rId76"/>
    <p:sldId id="319" r:id="rId77"/>
    <p:sldId id="357" r:id="rId78"/>
    <p:sldId id="360" r:id="rId79"/>
    <p:sldId id="358" r:id="rId80"/>
    <p:sldId id="359" r:id="rId81"/>
    <p:sldId id="387" r:id="rId82"/>
    <p:sldId id="361" r:id="rId83"/>
    <p:sldId id="362" r:id="rId84"/>
    <p:sldId id="365" r:id="rId85"/>
    <p:sldId id="411" r:id="rId86"/>
    <p:sldId id="366" r:id="rId87"/>
    <p:sldId id="367" r:id="rId88"/>
    <p:sldId id="368" r:id="rId89"/>
    <p:sldId id="322" r:id="rId90"/>
    <p:sldId id="369" r:id="rId91"/>
    <p:sldId id="371" r:id="rId92"/>
    <p:sldId id="372" r:id="rId93"/>
    <p:sldId id="373" r:id="rId94"/>
    <p:sldId id="374" r:id="rId95"/>
    <p:sldId id="413" r:id="rId96"/>
    <p:sldId id="412" r:id="rId97"/>
    <p:sldId id="375" r:id="rId98"/>
    <p:sldId id="414" r:id="rId99"/>
    <p:sldId id="370" r:id="rId100"/>
    <p:sldId id="323" r:id="rId101"/>
    <p:sldId id="406" r:id="rId102"/>
    <p:sldId id="388" r:id="rId103"/>
    <p:sldId id="324" r:id="rId104"/>
    <p:sldId id="390" r:id="rId105"/>
    <p:sldId id="410" r:id="rId106"/>
    <p:sldId id="325" r:id="rId107"/>
    <p:sldId id="376" r:id="rId10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707694-606A-15A6-FE21-F0F3F82712E9}" name="Efren Nauvoo Cruz Cortes" initials="EC" userId="S::mkk9335@ads.northwestern.edu::3dd78860-7020-4fb4-9123-80648c6a9f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45"/>
    <p:restoredTop sz="94655"/>
  </p:normalViewPr>
  <p:slideViewPr>
    <p:cSldViewPr snapToGrid="0">
      <p:cViewPr varScale="1">
        <p:scale>
          <a:sx n="99" d="100"/>
          <a:sy n="99" d="100"/>
        </p:scale>
        <p:origin x="208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2A73A-4261-AF44-B157-2572E11BF117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00B3E-9CF7-4344-B5B4-42B50267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7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A9E0-C9D7-0321-82C4-D494FE0D4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0F38B-7A3F-A19C-6CC2-5347BC400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3F6AC-2023-C041-9BDB-30EB6E8C7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talk about these in more detail in day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980FD-004D-2122-D8ED-5256A430B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00B3E-9CF7-4344-B5B4-42B50267605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344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EA2E-907F-80A0-9768-FA5D074DC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905A6-BB72-B5CC-5984-12B4125CB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F285B-0761-6621-D1D7-A18DCD2CD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talk about these in more detail in day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3F6B0-74C7-4EE7-3385-B1BC1BDBE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00B3E-9CF7-4344-B5B4-42B50267605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208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00B3E-9CF7-4344-B5B4-42B50267605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688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883-68F4-5395-D11E-D60EA0709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C5BB8-3916-B1F9-16C3-1C0AE649E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A97DA-EA59-C405-FDDA-B20070E8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F6300-3A74-0E34-B981-56A1FDE1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C90E0-F1EC-7DCE-C78C-E8B3E699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6073-908A-89AB-5507-822CDE35C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>
            <a:noFill/>
          </a:ln>
        </p:spPr>
        <p:txBody>
          <a:bodyPr anchor="b"/>
          <a:lstStyle>
            <a:lvl1pPr algn="ctr">
              <a:defRPr sz="6000"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5D14-338A-AF28-3045-3FA3FAA0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D71A-A875-0AF4-98E8-3B04D5E1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62CF-15CF-3119-44E1-6A2E6DC8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1063-7CBA-D23D-9D84-C1A45FF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21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DF910-683F-4125-68EE-CA06B68DAC5F}"/>
              </a:ext>
            </a:extLst>
          </p:cNvPr>
          <p:cNvSpPr txBox="1"/>
          <p:nvPr userDrawn="1"/>
        </p:nvSpPr>
        <p:spPr>
          <a:xfrm>
            <a:off x="9921765" y="6633552"/>
            <a:ext cx="2249215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Slides by efrén cruz cortés</a:t>
            </a:r>
          </a:p>
        </p:txBody>
      </p:sp>
    </p:spTree>
    <p:extLst>
      <p:ext uri="{BB962C8B-B14F-4D97-AF65-F5344CB8AC3E}">
        <p14:creationId xmlns:p14="http://schemas.microsoft.com/office/powerpoint/2010/main" val="2011318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83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5FF8-1A17-088D-A298-B87B2512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2714-314C-67EC-6487-8D4F5EC12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7E22F-5027-C7FB-DF00-E8B3E0CD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CFA57-2DBB-4CBF-D162-56C567A9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805D6-C9B4-9B57-57B5-B1D25D24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65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48F93-A1B4-E674-9796-5EEAE735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8B9F2-671A-973D-74C6-244EE97F6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5F827-7BBE-7AFD-82CE-F471CB31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821B-653A-AF76-72C5-1369AD00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FC05B-58B3-4407-8AE3-D4EFA485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8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61FF-6009-AA16-79DE-D4D2B77B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D6455-5660-6C72-A9BC-49570A0F8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9B74-E407-A31E-02D6-8603F83F9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8C94D-5531-FF4B-B824-E89C238B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5B95B-045C-A76E-3877-4312D1A7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892AF-51B7-FCB0-1C55-7BA19E9F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2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6CC8-5CDF-F791-78B5-CBC0138F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42055-76B4-80CE-A1A0-15F50A778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1DE79-60E9-B102-9E9B-AB9F7AD4D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C2EDB-8804-11EE-1A8C-E6424FB30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7C1B6-8990-7C03-C411-D1252FA2C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DD0D1B-5EF5-ABD4-79D5-E4B1669EE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00F92C-0DA2-DD13-09B0-617C7BAD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6277F-1BC8-9CEB-B268-CBD311D4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8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8CBD-0FB1-782A-EABA-1857860F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06DFA5-09DC-5827-53B4-1CE12175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61171-7923-C61E-AA68-EE714EF2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8B822-0FA7-37AD-671A-66652DD4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37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9A374-5006-0B3C-DDD7-50B0F44B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E63A2-4F08-73E9-95A3-04B7458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A4337-0782-222E-9C45-1B5132F3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0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E3E2-E33D-DE07-57A2-AA657653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1E5B4-805D-BA07-2457-1EEEE1276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62B2F-A3A5-E4C4-2943-D166EC12E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0A5FD-B023-962B-D768-A87E9E38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A771-C66E-6C56-C931-2461FE06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5B6F2-6E6C-2F9A-2331-60ED57BC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334A-7762-B60D-0AF5-B4184B8B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A00B8-6C59-47DA-B460-6239CB3E0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CE4F8-6909-27BE-710A-E393E2F52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13D06-291B-2991-A59C-BA72DBC0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C98E0-9FD3-C3CE-921B-D1CD4437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8E7EF-67DF-25FC-CA6C-BCA8CDB1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92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F2A2-4689-A2C6-1BB6-9BB2ECA9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54539-99CC-8BAA-2D25-7B326DCEB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CC8E3-2D54-C1CD-9E26-129E12E9B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B030E-E8E7-4DFE-A01E-28E79530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46DBE-725C-3CDC-BB39-E3705B12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20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2A7B9-9059-9AE8-F8C7-2E86A1BDC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C216D-3838-C14F-7B5B-76AC0B319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8D3A8-3D5F-14B6-C421-D6A105D8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DC751-E36E-A3BE-ABA6-8855C7D8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CE8FA-DE02-AEA6-F129-7019237BA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2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3FC99-D302-BA4B-F766-C1CF13B88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59734-0F7F-8199-3F40-5BA29B8A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4D022-B3AC-F1A8-7E98-04D597752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0DD4A-49F6-694F-BA0E-D1F51DB36AFE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9F430-553F-C0EB-9A56-46B584C49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239E3-9054-8DF5-39A4-0634A7F98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CE5BF-D059-3E4A-B8B4-FF4CB97EF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7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rcdsconsult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uitrcs/introGit" TargetMode="Externa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thub/gitignore" TargetMode="Externa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uitrcs/commandLine" TargetMode="External"/><Relationship Id="rId2" Type="http://schemas.openxmlformats.org/officeDocument/2006/relationships/hyperlink" Target="https://mitcommlab.mit.edu/broad/commkit/file-structure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nuitrcs/introGit" TargetMode="External"/><Relationship Id="rId4" Type="http://schemas.openxmlformats.org/officeDocument/2006/relationships/hyperlink" Target="https://github.com/nuitrcs/IntroToCon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A2879C-8567-4F88-73A7-1184B7F38A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Researcher’s Guide to Code Organization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918AE9E-614B-12F0-D747-D9920C9BD2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efrén cruz cortés</a:t>
            </a:r>
          </a:p>
          <a:p>
            <a:r>
              <a:rPr lang="en-US" dirty="0"/>
              <a:t>TA: Yangyang Li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1F8A30-7051-FEBB-A309-2231508E6ABD}"/>
              </a:ext>
            </a:extLst>
          </p:cNvPr>
          <p:cNvSpPr txBox="1">
            <a:spLocks/>
          </p:cNvSpPr>
          <p:nvPr/>
        </p:nvSpPr>
        <p:spPr>
          <a:xfrm>
            <a:off x="7594899" y="290456"/>
            <a:ext cx="4368501" cy="852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highlight>
                  <a:srgbClr val="00FF00"/>
                </a:highlight>
              </a:rPr>
              <a:t>Workshop starts at 12:03</a:t>
            </a:r>
          </a:p>
        </p:txBody>
      </p:sp>
    </p:spTree>
    <p:extLst>
      <p:ext uri="{BB962C8B-B14F-4D97-AF65-F5344CB8AC3E}">
        <p14:creationId xmlns:p14="http://schemas.microsoft.com/office/powerpoint/2010/main" val="31077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8237-7538-F82E-CF5E-70052A37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24"/>
            <a:ext cx="10515600" cy="899795"/>
          </a:xfrm>
        </p:spPr>
        <p:txBody>
          <a:bodyPr/>
          <a:lstStyle/>
          <a:p>
            <a:r>
              <a:rPr lang="en-US" b="1">
                <a:solidFill>
                  <a:srgbClr val="4E2A84"/>
                </a:solidFill>
              </a:rPr>
              <a:t>This workshop is brought to you 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6DF4-919B-F686-3891-6FD73035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989"/>
            <a:ext cx="10515600" cy="4199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Need help?</a:t>
            </a:r>
          </a:p>
          <a:p>
            <a:r>
              <a:rPr lang="en-US" sz="1800" dirty="0"/>
              <a:t>AI, Machine Learning, Data Science</a:t>
            </a:r>
          </a:p>
          <a:p>
            <a:r>
              <a:rPr lang="en-US" sz="1800" dirty="0"/>
              <a:t>Statistics</a:t>
            </a:r>
          </a:p>
          <a:p>
            <a:r>
              <a:rPr lang="en-US" sz="1800" dirty="0"/>
              <a:t>Visualization</a:t>
            </a:r>
          </a:p>
          <a:p>
            <a:r>
              <a:rPr lang="en-US" sz="1800" dirty="0"/>
              <a:t>Scraping, text analysis, modeling, computing, reproducibility, etc.</a:t>
            </a:r>
          </a:p>
          <a:p>
            <a:r>
              <a:rPr lang="en-US" sz="1800" dirty="0"/>
              <a:t>R, Python, SQL, MATLAB, Stata, SPSS, SAS, etc.</a:t>
            </a:r>
          </a:p>
          <a:p>
            <a:pPr marL="0" indent="0" algn="ctr">
              <a:spcBef>
                <a:spcPts val="2000"/>
              </a:spcBef>
              <a:buNone/>
            </a:pPr>
            <a:r>
              <a:rPr lang="en-US" sz="3200" dirty="0">
                <a:ea typeface="+mn-lt"/>
                <a:cs typeface="+mn-lt"/>
              </a:rPr>
              <a:t>Request a </a:t>
            </a:r>
            <a:r>
              <a:rPr lang="en-US" sz="3200" b="1" dirty="0">
                <a:solidFill>
                  <a:srgbClr val="C00000"/>
                </a:solidFill>
                <a:ea typeface="+mn-lt"/>
                <a:cs typeface="+mn-lt"/>
              </a:rPr>
              <a:t>FREE</a:t>
            </a:r>
            <a:r>
              <a:rPr lang="en-US" sz="3200" dirty="0">
                <a:ea typeface="+mn-lt"/>
                <a:cs typeface="+mn-lt"/>
              </a:rPr>
              <a:t> consultation at </a:t>
            </a:r>
            <a:r>
              <a:rPr lang="en-US" sz="3200" b="1" dirty="0">
                <a:solidFill>
                  <a:srgbClr val="7030A0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bit.ly/rcdsconsult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9FC79-E7F4-9004-8097-D165F9AA0BAE}"/>
              </a:ext>
            </a:extLst>
          </p:cNvPr>
          <p:cNvSpPr/>
          <p:nvPr/>
        </p:nvSpPr>
        <p:spPr>
          <a:xfrm>
            <a:off x="0" y="889225"/>
            <a:ext cx="12192000" cy="1278973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tIns="91440" rIns="9144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Northwestern IT </a:t>
            </a:r>
            <a:b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</a:b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Research Computing and Data Services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59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231D2-6AD6-8A55-77E1-9BC68F6F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9A6BE-BD39-47D1-7B96-46136FC76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questions!</a:t>
            </a:r>
          </a:p>
          <a:p>
            <a:pPr lvl="1"/>
            <a:r>
              <a:rPr lang="en-US" dirty="0"/>
              <a:t>If I use terminology and forgot to define, please ask!</a:t>
            </a:r>
          </a:p>
          <a:p>
            <a:pPr lvl="1"/>
            <a:endParaRPr lang="en-US" dirty="0"/>
          </a:p>
          <a:p>
            <a:r>
              <a:rPr lang="en-US" dirty="0"/>
              <a:t>Feel free to interrupt and ask whatever for clarification</a:t>
            </a:r>
          </a:p>
        </p:txBody>
      </p:sp>
    </p:spTree>
    <p:extLst>
      <p:ext uri="{BB962C8B-B14F-4D97-AF65-F5344CB8AC3E}">
        <p14:creationId xmlns:p14="http://schemas.microsoft.com/office/powerpoint/2010/main" val="423360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A724-4D1A-5A80-68B2-99BDDAFB4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expect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B575B-9C32-B692-0D8B-70025956F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lay of the land</a:t>
            </a:r>
          </a:p>
          <a:p>
            <a:pPr lvl="1"/>
            <a:r>
              <a:rPr lang="en-US" dirty="0"/>
              <a:t>won’t be able to go into details</a:t>
            </a:r>
          </a:p>
          <a:p>
            <a:r>
              <a:rPr lang="en-US" dirty="0"/>
              <a:t>Everything you always wanted to know about programming for research but were afraid to ask</a:t>
            </a:r>
          </a:p>
          <a:p>
            <a:r>
              <a:rPr lang="en-US" dirty="0"/>
              <a:t>Hands on exercises </a:t>
            </a:r>
            <a:r>
              <a:rPr lang="en-US"/>
              <a:t>(mostly Day 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50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E95D-3276-5C54-0E97-F9EEA4ED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BC314-998A-8D8F-258B-C35726DAA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1"/>
            <a:ext cx="10515600" cy="1407160"/>
          </a:xfrm>
        </p:spPr>
        <p:txBody>
          <a:bodyPr/>
          <a:lstStyle/>
          <a:p>
            <a:r>
              <a:rPr lang="en-US" dirty="0"/>
              <a:t>Day 1 will focus on overall project organization principles and tools.</a:t>
            </a:r>
          </a:p>
          <a:p>
            <a:r>
              <a:rPr lang="en-US" dirty="0"/>
              <a:t>Day 2 dives into organizing principles within a script.</a:t>
            </a:r>
          </a:p>
        </p:txBody>
      </p:sp>
    </p:spTree>
    <p:extLst>
      <p:ext uri="{BB962C8B-B14F-4D97-AF65-F5344CB8AC3E}">
        <p14:creationId xmlns:p14="http://schemas.microsoft.com/office/powerpoint/2010/main" val="3194176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F70A1-B423-F08C-6068-877E3837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183FACEA-92F9-AB38-50C2-2E21C4ACCB44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A3B3F606-785E-5D6C-0F17-7A9841CA46D9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6EEC263E-F68C-2CE3-66EA-0013D368FFA0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BFE4A92-28B1-4062-D982-2FFB7A572D49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191F3C-449A-EFD0-ED28-32987ACA33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1 Introduction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70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D01C0-0265-CAFE-65E8-1CF30C14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66C8-E0B0-2A01-00E8-7D9D17D89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this sound familiar?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0C5D2-9B68-A718-0964-26D5963AB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US" dirty="0"/>
              <a:t>I can’t find my script!</a:t>
            </a:r>
          </a:p>
          <a:p>
            <a:pPr>
              <a:spcAft>
                <a:spcPts val="1800"/>
              </a:spcAft>
            </a:pPr>
            <a:r>
              <a:rPr lang="en-US" dirty="0"/>
              <a:t>My script worked last week but now it’s broken.</a:t>
            </a:r>
          </a:p>
          <a:p>
            <a:pPr>
              <a:spcAft>
                <a:spcPts val="1800"/>
              </a:spcAft>
            </a:pPr>
            <a:r>
              <a:rPr lang="en-US" dirty="0"/>
              <a:t>My script works perfectly in my computer but not when I share it with my colleague.</a:t>
            </a:r>
          </a:p>
          <a:p>
            <a:pPr>
              <a:spcAft>
                <a:spcPts val="1800"/>
              </a:spcAft>
            </a:pPr>
            <a:endParaRPr lang="en-US" dirty="0"/>
          </a:p>
          <a:p>
            <a:pPr>
              <a:spcAft>
                <a:spcPts val="1800"/>
              </a:spcAft>
            </a:pPr>
            <a:r>
              <a:rPr lang="en-US" dirty="0"/>
              <a:t>What does this file do? I’ll just delete it...</a:t>
            </a:r>
          </a:p>
        </p:txBody>
      </p:sp>
    </p:spTree>
    <p:extLst>
      <p:ext uri="{BB962C8B-B14F-4D97-AF65-F5344CB8AC3E}">
        <p14:creationId xmlns:p14="http://schemas.microsoft.com/office/powerpoint/2010/main" val="363147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08F87-A382-9C18-15FF-A3DF4114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2786-E19A-7387-DCED-D45B9561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2AF57-E413-26E3-7617-B9F8245EA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code-based research project is composed of many elements outside internal code logic, and yet, these are not taught in classes!</a:t>
            </a:r>
          </a:p>
          <a:p>
            <a:r>
              <a:rPr lang="en-US" dirty="0"/>
              <a:t>We need a place to understand how all these elements come together, why they are necessary, and the principles behind them.</a:t>
            </a:r>
          </a:p>
          <a:p>
            <a:r>
              <a:rPr lang="en-US" dirty="0"/>
              <a:t>Proper organization will facilitate collaboration, reproducibility, and other important elements of research.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A bit of effort now will save you sweat and tears in the future!!</a:t>
            </a:r>
          </a:p>
        </p:txBody>
      </p:sp>
    </p:spTree>
    <p:extLst>
      <p:ext uri="{BB962C8B-B14F-4D97-AF65-F5344CB8AC3E}">
        <p14:creationId xmlns:p14="http://schemas.microsoft.com/office/powerpoint/2010/main" val="197333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D384-73E9-51DA-1BD7-FEB01A73B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1-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6CFB6-43D5-5AB9-6BF9-DC94201E6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655" y="1293622"/>
            <a:ext cx="7772400" cy="523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0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CF9BA6-A101-D260-46BE-11ED6012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32085"/>
            <a:ext cx="7772400" cy="539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2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4624-31C2-0F66-73C4-69344CD51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EB524-7703-53D2-6635-A72BB0AAA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58397"/>
            <a:ext cx="7772400" cy="554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76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4B56-FC9B-8B66-ECB0-9546DD31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756D4A-F366-33FB-B56C-BFB17BFC4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" y="609600"/>
            <a:ext cx="74803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0FAD-62C1-8DD0-0FFC-BC6153B1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9325-2ADA-23A9-B465-39E70D83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50002-8417-D0D1-84EC-5ED67914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3811073" cy="4703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Organization</a:t>
            </a:r>
          </a:p>
          <a:p>
            <a:pPr lvl="1"/>
            <a:r>
              <a:rPr lang="en-US" dirty="0"/>
              <a:t>Separation of Concerns</a:t>
            </a:r>
          </a:p>
          <a:p>
            <a:pPr lvl="1"/>
            <a:r>
              <a:rPr lang="en-US" dirty="0"/>
              <a:t>Modularity</a:t>
            </a:r>
          </a:p>
          <a:p>
            <a:pPr lvl="1"/>
            <a:r>
              <a:rPr lang="en-US" dirty="0"/>
              <a:t>Containment</a:t>
            </a:r>
          </a:p>
          <a:p>
            <a:pPr lvl="1"/>
            <a:r>
              <a:rPr lang="en-US" dirty="0"/>
              <a:t>Hierarchy</a:t>
            </a:r>
          </a:p>
          <a:p>
            <a:r>
              <a:rPr lang="en-US" dirty="0"/>
              <a:t>Robustness</a:t>
            </a:r>
          </a:p>
          <a:p>
            <a:pPr lvl="1"/>
            <a:r>
              <a:rPr lang="en-US" dirty="0"/>
              <a:t>Usability</a:t>
            </a:r>
          </a:p>
          <a:p>
            <a:pPr lvl="1"/>
            <a:r>
              <a:rPr lang="en-US" dirty="0"/>
              <a:t>Portability</a:t>
            </a:r>
          </a:p>
          <a:p>
            <a:pPr lvl="1"/>
            <a:r>
              <a:rPr lang="en-US" dirty="0"/>
              <a:t>Automation</a:t>
            </a:r>
          </a:p>
          <a:p>
            <a:pPr lvl="1"/>
            <a:r>
              <a:rPr lang="en-US" dirty="0"/>
              <a:t>Scalability</a:t>
            </a:r>
          </a:p>
          <a:p>
            <a:pPr lvl="1"/>
            <a:r>
              <a:rPr lang="en-US" dirty="0"/>
              <a:t>Reliability</a:t>
            </a:r>
          </a:p>
          <a:p>
            <a:r>
              <a:rPr lang="en-US" dirty="0"/>
              <a:t>Collaboration</a:t>
            </a:r>
          </a:p>
          <a:p>
            <a:pPr lvl="1"/>
            <a:r>
              <a:rPr lang="en-US" dirty="0"/>
              <a:t>Documentation</a:t>
            </a:r>
          </a:p>
          <a:p>
            <a:pPr lvl="1"/>
            <a:r>
              <a:rPr lang="en-US" dirty="0"/>
              <a:t>Transparency</a:t>
            </a:r>
          </a:p>
          <a:p>
            <a:pPr lvl="1"/>
            <a:r>
              <a:rPr lang="en-US" dirty="0"/>
              <a:t>Reproducibility</a:t>
            </a:r>
          </a:p>
          <a:p>
            <a:pPr lvl="1"/>
            <a:r>
              <a:rPr lang="en-US" dirty="0"/>
              <a:t>Version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77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CA1F-A64A-4F5C-612B-45AE0C1E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406D-C90E-A750-9434-410846FF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EE18B-56F9-FACC-52C5-BB21B6918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3811073" cy="4703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Organization</a:t>
            </a:r>
          </a:p>
          <a:p>
            <a:pPr lvl="1"/>
            <a:r>
              <a:rPr lang="en-US" dirty="0"/>
              <a:t>Separation of Concerns</a:t>
            </a:r>
          </a:p>
          <a:p>
            <a:pPr lvl="1"/>
            <a:r>
              <a:rPr lang="en-US" dirty="0"/>
              <a:t>Modularity</a:t>
            </a:r>
          </a:p>
          <a:p>
            <a:pPr lvl="1"/>
            <a:r>
              <a:rPr lang="en-US" dirty="0"/>
              <a:t>Containment</a:t>
            </a:r>
          </a:p>
          <a:p>
            <a:pPr lvl="1"/>
            <a:r>
              <a:rPr lang="en-US" dirty="0"/>
              <a:t>Hierarchy</a:t>
            </a:r>
          </a:p>
          <a:p>
            <a:r>
              <a:rPr lang="en-US" dirty="0"/>
              <a:t>Robustness</a:t>
            </a:r>
          </a:p>
          <a:p>
            <a:pPr lvl="1"/>
            <a:r>
              <a:rPr lang="en-US" dirty="0"/>
              <a:t>Usability</a:t>
            </a:r>
          </a:p>
          <a:p>
            <a:pPr lvl="1"/>
            <a:r>
              <a:rPr lang="en-US" dirty="0"/>
              <a:t>Portability</a:t>
            </a:r>
          </a:p>
          <a:p>
            <a:pPr lvl="1"/>
            <a:r>
              <a:rPr lang="en-US" dirty="0"/>
              <a:t>Automation</a:t>
            </a:r>
          </a:p>
          <a:p>
            <a:pPr lvl="1"/>
            <a:r>
              <a:rPr lang="en-US" dirty="0"/>
              <a:t>Scalability</a:t>
            </a:r>
          </a:p>
          <a:p>
            <a:pPr lvl="1"/>
            <a:r>
              <a:rPr lang="en-US" dirty="0"/>
              <a:t>Reliability</a:t>
            </a:r>
          </a:p>
          <a:p>
            <a:r>
              <a:rPr lang="en-US" dirty="0"/>
              <a:t>Collaboration</a:t>
            </a:r>
          </a:p>
          <a:p>
            <a:pPr lvl="1"/>
            <a:r>
              <a:rPr lang="en-US" dirty="0"/>
              <a:t>Documentation</a:t>
            </a:r>
          </a:p>
          <a:p>
            <a:pPr lvl="1"/>
            <a:r>
              <a:rPr lang="en-US" dirty="0"/>
              <a:t>Transparency</a:t>
            </a:r>
          </a:p>
          <a:p>
            <a:pPr lvl="1"/>
            <a:r>
              <a:rPr lang="en-US" dirty="0"/>
              <a:t>Reproducibility</a:t>
            </a:r>
          </a:p>
          <a:p>
            <a:pPr lvl="1"/>
            <a:r>
              <a:rPr lang="en-US" dirty="0"/>
              <a:t>Version Control</a:t>
            </a:r>
          </a:p>
          <a:p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BFA617A-E69D-4CCB-A2FD-FDFA151437FB}"/>
              </a:ext>
            </a:extLst>
          </p:cNvPr>
          <p:cNvSpPr/>
          <p:nvPr/>
        </p:nvSpPr>
        <p:spPr>
          <a:xfrm>
            <a:off x="5852023" y="1648496"/>
            <a:ext cx="617464" cy="1159098"/>
          </a:xfrm>
          <a:prstGeom prst="rightBrace">
            <a:avLst>
              <a:gd name="adj1" fmla="val 45175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180B586-F340-2F50-2564-A08E0B3E995F}"/>
              </a:ext>
            </a:extLst>
          </p:cNvPr>
          <p:cNvSpPr/>
          <p:nvPr/>
        </p:nvSpPr>
        <p:spPr>
          <a:xfrm>
            <a:off x="5852023" y="3333482"/>
            <a:ext cx="617464" cy="1159098"/>
          </a:xfrm>
          <a:prstGeom prst="rightBrace">
            <a:avLst>
              <a:gd name="adj1" fmla="val 45175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EDD9B0F-85E5-4540-CC66-FAAAC770B5D1}"/>
              </a:ext>
            </a:extLst>
          </p:cNvPr>
          <p:cNvSpPr/>
          <p:nvPr/>
        </p:nvSpPr>
        <p:spPr>
          <a:xfrm>
            <a:off x="5852023" y="4941195"/>
            <a:ext cx="617464" cy="1159098"/>
          </a:xfrm>
          <a:prstGeom prst="rightBrace">
            <a:avLst>
              <a:gd name="adj1" fmla="val 45175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55CFEA-A4BD-4F90-97DC-D63B4DF3CAA7}"/>
              </a:ext>
            </a:extLst>
          </p:cNvPr>
          <p:cNvSpPr txBox="1"/>
          <p:nvPr/>
        </p:nvSpPr>
        <p:spPr>
          <a:xfrm>
            <a:off x="7492149" y="2086377"/>
            <a:ext cx="141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45D5D-36FD-D4BE-5838-34EDA9481053}"/>
              </a:ext>
            </a:extLst>
          </p:cNvPr>
          <p:cNvSpPr txBox="1"/>
          <p:nvPr/>
        </p:nvSpPr>
        <p:spPr>
          <a:xfrm>
            <a:off x="7591022" y="5291070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Continuity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10AF26-9E8E-1FF5-4710-346249FE9A2A}"/>
              </a:ext>
            </a:extLst>
          </p:cNvPr>
          <p:cNvSpPr txBox="1"/>
          <p:nvPr/>
        </p:nvSpPr>
        <p:spPr>
          <a:xfrm>
            <a:off x="7465250" y="3756338"/>
            <a:ext cx="146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206330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01F3-2DCA-B6C0-1D56-689E749E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Quick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0E3F9-1BF4-C383-119C-9F246A856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your primary programming language?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 you use an integrated development environment (IDE)?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(e.g., RStudio, Jupyter Lab, VS Code, ...)</a:t>
            </a:r>
          </a:p>
        </p:txBody>
      </p:sp>
    </p:spTree>
    <p:extLst>
      <p:ext uri="{BB962C8B-B14F-4D97-AF65-F5344CB8AC3E}">
        <p14:creationId xmlns:p14="http://schemas.microsoft.com/office/powerpoint/2010/main" val="563402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422C-0D6C-4DD8-6674-22C7F26F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C47D5AE4-C4FE-9BFD-5B18-E268F8AB3FF7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DDA5D0D8-3E01-BC70-603A-2C51EFEB9CB5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37C629A-FA71-D8A3-FDEE-536FCFEED56B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08370881-763C-D98E-5281-490C56C844F1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92F923-7DCE-7802-111B-B8503A6D0E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1479552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16DD-FD28-472B-513B-2B386053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your 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33B08-EFF3-A77D-B5E8-59AF44AB1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your project use data?</a:t>
            </a:r>
          </a:p>
          <a:p>
            <a:r>
              <a:rPr lang="en-US" dirty="0"/>
              <a:t>If so, at which stage?</a:t>
            </a:r>
          </a:p>
          <a:p>
            <a:pPr lvl="1"/>
            <a:r>
              <a:rPr lang="en-US" dirty="0"/>
              <a:t>At the beginning (training, preprocessing, ...)</a:t>
            </a:r>
          </a:p>
          <a:p>
            <a:pPr lvl="1"/>
            <a:r>
              <a:rPr lang="en-US" dirty="0"/>
              <a:t>At the end (calibration, validation, ...)</a:t>
            </a:r>
          </a:p>
          <a:p>
            <a:pPr lvl="1"/>
            <a:r>
              <a:rPr lang="en-US" dirty="0"/>
              <a:t>Throughout (sensors, inference, ...)</a:t>
            </a:r>
          </a:p>
          <a:p>
            <a:r>
              <a:rPr lang="en-US" dirty="0"/>
              <a:t>Is your project iterative in nature?</a:t>
            </a:r>
          </a:p>
          <a:p>
            <a:r>
              <a:rPr lang="en-US" dirty="0"/>
              <a:t>Does your project branch into possible models / analyses?</a:t>
            </a:r>
          </a:p>
        </p:txBody>
      </p:sp>
    </p:spTree>
    <p:extLst>
      <p:ext uri="{BB962C8B-B14F-4D97-AF65-F5344CB8AC3E}">
        <p14:creationId xmlns:p14="http://schemas.microsoft.com/office/powerpoint/2010/main" val="420682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4FD37-C1B7-ED58-2889-82DC3C4E7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project taxonomy*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21121-4A62-5859-AE31-F98C2D8F0A37}"/>
              </a:ext>
            </a:extLst>
          </p:cNvPr>
          <p:cNvSpPr txBox="1"/>
          <p:nvPr/>
        </p:nvSpPr>
        <p:spPr>
          <a:xfrm>
            <a:off x="3589020" y="6442841"/>
            <a:ext cx="8503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dirty="0"/>
              <a:t>*I couldn’t find an official taxonomy / framework for research project structures, so these examples are limited to my own experience. -ecc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881B65-D43D-A50F-EF7B-CC730E1AB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131" y="1880432"/>
            <a:ext cx="3195409" cy="474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6C5B02-A3A3-FECA-FF43-1E99C0669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124" y="3253078"/>
            <a:ext cx="3465786" cy="25949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B83B28-55C0-BCC2-FD50-D97BDA8BF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1338" y="1275824"/>
            <a:ext cx="1737162" cy="1116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657C6F-54B3-8C8B-E45F-1716ECDEB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497" y="3275896"/>
            <a:ext cx="2260081" cy="24121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89AF49-C2D3-0C91-A46A-73C6E176B39C}"/>
              </a:ext>
            </a:extLst>
          </p:cNvPr>
          <p:cNvSpPr txBox="1"/>
          <p:nvPr/>
        </p:nvSpPr>
        <p:spPr>
          <a:xfrm>
            <a:off x="3003070" y="2475448"/>
            <a:ext cx="155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Linear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A34A0-E859-203A-271D-E444BC130AAD}"/>
              </a:ext>
            </a:extLst>
          </p:cNvPr>
          <p:cNvSpPr txBox="1"/>
          <p:nvPr/>
        </p:nvSpPr>
        <p:spPr>
          <a:xfrm>
            <a:off x="3003070" y="5883297"/>
            <a:ext cx="155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Recurrent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EC99C2-E854-3426-1CF4-B9D1E304B4F6}"/>
              </a:ext>
            </a:extLst>
          </p:cNvPr>
          <p:cNvSpPr txBox="1"/>
          <p:nvPr/>
        </p:nvSpPr>
        <p:spPr>
          <a:xfrm>
            <a:off x="7979718" y="2475448"/>
            <a:ext cx="155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Iterative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8F7AD7-E561-B3BC-18F4-7327DB933AFB}"/>
              </a:ext>
            </a:extLst>
          </p:cNvPr>
          <p:cNvSpPr txBox="1"/>
          <p:nvPr/>
        </p:nvSpPr>
        <p:spPr>
          <a:xfrm>
            <a:off x="8020772" y="5883297"/>
            <a:ext cx="155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Branching</a:t>
            </a:r>
          </a:p>
        </p:txBody>
      </p:sp>
    </p:spTree>
    <p:extLst>
      <p:ext uri="{BB962C8B-B14F-4D97-AF65-F5344CB8AC3E}">
        <p14:creationId xmlns:p14="http://schemas.microsoft.com/office/powerpoint/2010/main" val="403827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441C-EED7-735C-F759-CA18F560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6B241-4BA1-2B96-A22F-DC9B69A7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reality, most projects are iterative in nature as we improve our own understanding and as we calibrate with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are generic possibilities, but of course research is more complex:</a:t>
            </a:r>
          </a:p>
          <a:p>
            <a:r>
              <a:rPr lang="en-US" b="1" dirty="0"/>
              <a:t>Linear:</a:t>
            </a:r>
            <a:r>
              <a:rPr lang="en-US" dirty="0"/>
              <a:t> batch learning, descriptive statistics</a:t>
            </a:r>
          </a:p>
          <a:p>
            <a:r>
              <a:rPr lang="en-US" b="1" dirty="0"/>
              <a:t>Recurrent</a:t>
            </a:r>
            <a:r>
              <a:rPr lang="en-US" dirty="0"/>
              <a:t>: online learning, sensor data</a:t>
            </a:r>
          </a:p>
          <a:p>
            <a:r>
              <a:rPr lang="en-US" b="1" dirty="0"/>
              <a:t>Iterative</a:t>
            </a:r>
            <a:r>
              <a:rPr lang="en-US" dirty="0"/>
              <a:t>: physics simulation, agent-based models</a:t>
            </a:r>
          </a:p>
          <a:p>
            <a:r>
              <a:rPr lang="en-US" b="1" dirty="0"/>
              <a:t>Branching:</a:t>
            </a:r>
            <a:r>
              <a:rPr lang="en-US" dirty="0"/>
              <a:t> model selection, by-case analysis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76678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9857-D84F-85EE-DD62-50B37BE51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0A2D3-BE17-31FE-193C-48E7AC438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Grab a piece of paper and sketch the structure of your project.</a:t>
            </a:r>
          </a:p>
          <a:p>
            <a:r>
              <a:rPr lang="en-US" dirty="0"/>
              <a:t>It’s OK if it isn’t perfect, if it doesn’t fit the shapes above, or if it is a strange mix.</a:t>
            </a:r>
          </a:p>
          <a:p>
            <a:r>
              <a:rPr lang="en-US" dirty="0"/>
              <a:t>Show it to </a:t>
            </a:r>
            <a:r>
              <a:rPr lang="en-US" b="1" dirty="0"/>
              <a:t>your neighbor</a:t>
            </a:r>
            <a:r>
              <a:rPr lang="en-US" dirty="0"/>
              <a:t> and talk about it!</a:t>
            </a:r>
          </a:p>
        </p:txBody>
      </p:sp>
    </p:spTree>
    <p:extLst>
      <p:ext uri="{BB962C8B-B14F-4D97-AF65-F5344CB8AC3E}">
        <p14:creationId xmlns:p14="http://schemas.microsoft.com/office/powerpoint/2010/main" val="2946340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956F6-8AF1-8F26-77D1-1BA685135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D123798D-7F55-9AD3-1334-9B0A7504F907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A8792235-C184-B903-FE2A-58F271C14BC7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57618BCD-5FD4-BC2F-92D8-66D1A9B3206A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90880AC-DBD3-135D-F65D-8E32B8138A97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5EF732-AE3D-14C2-E257-9A5FE0D43E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Directory Structure</a:t>
            </a:r>
          </a:p>
        </p:txBody>
      </p:sp>
    </p:spTree>
    <p:extLst>
      <p:ext uri="{BB962C8B-B14F-4D97-AF65-F5344CB8AC3E}">
        <p14:creationId xmlns:p14="http://schemas.microsoft.com/office/powerpoint/2010/main" val="2833454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93B7-0D6F-3ABA-3A7E-5618791E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1DD85-A305-E773-D307-C5BD17B80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first thing you do when you start a project?</a:t>
            </a:r>
          </a:p>
          <a:p>
            <a:r>
              <a:rPr lang="en-US" dirty="0"/>
              <a:t>When you create a new script, where do you save it?</a:t>
            </a:r>
          </a:p>
        </p:txBody>
      </p:sp>
    </p:spTree>
    <p:extLst>
      <p:ext uri="{BB962C8B-B14F-4D97-AF65-F5344CB8AC3E}">
        <p14:creationId xmlns:p14="http://schemas.microsoft.com/office/powerpoint/2010/main" val="2821904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D4BF-6696-5BA5-1E80-B79C2CA15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the project contained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4C3F1-5370-F5EF-BE53-A031D7132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default, all materials for your project should go inside one </a:t>
            </a:r>
            <a:r>
              <a:rPr lang="en-US" b="1" dirty="0"/>
              <a:t>project directory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(Imagine the chaos of saving all your .doc files in a single folder)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Plan your project directory based on your project structure.</a:t>
            </a:r>
          </a:p>
        </p:txBody>
      </p:sp>
    </p:spTree>
    <p:extLst>
      <p:ext uri="{BB962C8B-B14F-4D97-AF65-F5344CB8AC3E}">
        <p14:creationId xmlns:p14="http://schemas.microsoft.com/office/powerpoint/2010/main" val="2841561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1E0B-51EA-433A-F4D5-F5C5027D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5297-C44C-F89A-1685-EBD6D74B4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5132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See example folder </a:t>
            </a:r>
            <a:r>
              <a:rPr lang="en-US" b="1" i="1" dirty="0">
                <a:solidFill>
                  <a:schemeClr val="accent1"/>
                </a:solidFill>
              </a:rPr>
              <a:t>Example-Bad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3F6958-AF91-3D96-F448-4B6DD6369618}"/>
              </a:ext>
            </a:extLst>
          </p:cNvPr>
          <p:cNvSpPr/>
          <p:nvPr/>
        </p:nvSpPr>
        <p:spPr>
          <a:xfrm>
            <a:off x="4540469" y="2291251"/>
            <a:ext cx="3111062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4E7FB3-2581-3E93-A1CB-15EC2D55FE7A}"/>
              </a:ext>
            </a:extLst>
          </p:cNvPr>
          <p:cNvSpPr/>
          <p:nvPr/>
        </p:nvSpPr>
        <p:spPr>
          <a:xfrm>
            <a:off x="1534510" y="3584024"/>
            <a:ext cx="1876097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.spyder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B8FAA1-2D5F-4CA4-B53D-E0F4435AA49A}"/>
              </a:ext>
            </a:extLst>
          </p:cNvPr>
          <p:cNvSpPr/>
          <p:nvPr/>
        </p:nvSpPr>
        <p:spPr>
          <a:xfrm>
            <a:off x="3950138" y="3584024"/>
            <a:ext cx="1876097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Desktop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187870-247F-8CCD-E77F-18BF158ED736}"/>
              </a:ext>
            </a:extLst>
          </p:cNvPr>
          <p:cNvSpPr/>
          <p:nvPr/>
        </p:nvSpPr>
        <p:spPr>
          <a:xfrm>
            <a:off x="6365766" y="3584024"/>
            <a:ext cx="1876097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Documents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080653-E8D4-F634-2029-0CF251039431}"/>
              </a:ext>
            </a:extLst>
          </p:cNvPr>
          <p:cNvSpPr/>
          <p:nvPr/>
        </p:nvSpPr>
        <p:spPr>
          <a:xfrm>
            <a:off x="8781393" y="3584024"/>
            <a:ext cx="1876097" cy="630621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ysClr val="windowText" lastClr="000000"/>
                </a:solidFill>
              </a:rPr>
              <a:t>whose_is_this.R</a:t>
            </a:r>
            <a:endParaRPr lang="en-US" sz="140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4D9138-FB44-EF82-16DD-8C18B04DBFD7}"/>
              </a:ext>
            </a:extLst>
          </p:cNvPr>
          <p:cNvSpPr/>
          <p:nvPr/>
        </p:nvSpPr>
        <p:spPr>
          <a:xfrm>
            <a:off x="1539767" y="4637687"/>
            <a:ext cx="1876097" cy="630621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err="1">
                <a:solidFill>
                  <a:sysClr val="windowText" lastClr="000000"/>
                </a:solidFill>
              </a:rPr>
              <a:t>where_am_i.py</a:t>
            </a:r>
            <a:endParaRPr lang="en-US" sz="140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77127F-5E3B-9471-DB2B-219ED4128B44}"/>
              </a:ext>
            </a:extLst>
          </p:cNvPr>
          <p:cNvSpPr/>
          <p:nvPr/>
        </p:nvSpPr>
        <p:spPr>
          <a:xfrm>
            <a:off x="3949263" y="4637687"/>
            <a:ext cx="1876097" cy="630621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err="1">
                <a:solidFill>
                  <a:sysClr val="windowText" lastClr="000000"/>
                </a:solidFill>
              </a:rPr>
              <a:t>what_is_this.R</a:t>
            </a:r>
            <a:endParaRPr lang="en-US" sz="140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6AC9A7-C3DC-339E-E914-DF431B84BC74}"/>
              </a:ext>
            </a:extLst>
          </p:cNvPr>
          <p:cNvSpPr/>
          <p:nvPr/>
        </p:nvSpPr>
        <p:spPr>
          <a:xfrm>
            <a:off x="6369268" y="4637687"/>
            <a:ext cx="1876097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MATLAB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74350D-B9FF-05CC-9586-881617BDCA33}"/>
              </a:ext>
            </a:extLst>
          </p:cNvPr>
          <p:cNvSpPr/>
          <p:nvPr/>
        </p:nvSpPr>
        <p:spPr>
          <a:xfrm>
            <a:off x="6369269" y="5696600"/>
            <a:ext cx="1876097" cy="630621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err="1">
                <a:solidFill>
                  <a:sysClr val="windowText" lastClr="000000"/>
                </a:solidFill>
              </a:rPr>
              <a:t>yolo.m</a:t>
            </a:r>
            <a:endParaRPr lang="en-US" sz="1400">
              <a:solidFill>
                <a:sysClr val="windowText" lastClr="000000"/>
              </a:solidFill>
            </a:endParaRP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C02364DD-AF96-BF61-6D6C-D1A4192B8953}"/>
              </a:ext>
            </a:extLst>
          </p:cNvPr>
          <p:cNvCxnSpPr>
            <a:stCxn id="4" idx="1"/>
            <a:endCxn id="7" idx="0"/>
          </p:cNvCxnSpPr>
          <p:nvPr/>
        </p:nvCxnSpPr>
        <p:spPr>
          <a:xfrm rot="10800000" flipV="1">
            <a:off x="2472559" y="2606562"/>
            <a:ext cx="2067910" cy="977462"/>
          </a:xfrm>
          <a:prstGeom prst="curvedConnector2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EF74FF0-7C12-B1C1-4B73-D1A1FD555C83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5400000">
            <a:off x="5161018" y="2649042"/>
            <a:ext cx="662152" cy="1207813"/>
          </a:xfrm>
          <a:prstGeom prst="curvedConnector3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F3D29837-56A8-A218-BA3B-5C8826A87338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16200000" flipH="1">
            <a:off x="6368831" y="2649040"/>
            <a:ext cx="662152" cy="1207815"/>
          </a:xfrm>
          <a:prstGeom prst="curvedConnector3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69F138C4-D51D-EF39-4161-432F81EE8EEA}"/>
              </a:ext>
            </a:extLst>
          </p:cNvPr>
          <p:cNvCxnSpPr>
            <a:stCxn id="4" idx="3"/>
            <a:endCxn id="10" idx="0"/>
          </p:cNvCxnSpPr>
          <p:nvPr/>
        </p:nvCxnSpPr>
        <p:spPr>
          <a:xfrm>
            <a:off x="7651531" y="2606562"/>
            <a:ext cx="2067911" cy="977462"/>
          </a:xfrm>
          <a:prstGeom prst="curvedConnector2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871549A1-9588-97F0-292F-79F65AC42916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rot="16200000" flipH="1">
            <a:off x="2263666" y="4423537"/>
            <a:ext cx="423042" cy="5257"/>
          </a:xfrm>
          <a:prstGeom prst="curvedConnector3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F36EB71-1C0E-C200-3BFB-242B11DD6381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flipH="1">
            <a:off x="4887312" y="4214645"/>
            <a:ext cx="875" cy="4230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386486-95B6-4852-6DAC-2D37FE5D603E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7303815" y="4214645"/>
            <a:ext cx="3502" cy="42304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EEDB6E-B15D-E0D0-D776-95FFADC46DE6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307317" y="5268308"/>
            <a:ext cx="1" cy="428292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843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9316-46F5-946E-FF65-8A650BA6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Bad IDEs!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6120E-3A18-13F3-7F37-74C608FBE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IDEs by default tend to save your files in predetermined folders (often hidden) they create during installation.</a:t>
            </a:r>
          </a:p>
          <a:p>
            <a:r>
              <a:rPr lang="en-US"/>
              <a:t>You should NOT save your files in your IDE’s default, but within your project directory.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08778-8A93-78DF-599A-D850DC8EB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116" y="3808953"/>
            <a:ext cx="5408341" cy="28885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4D8EF74-115D-9C9F-5AF9-E6888B2A0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061" y="3818586"/>
            <a:ext cx="1538612" cy="54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399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43490-8008-38BE-77C8-EE7561C5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2B175-7917-40CD-DCA9-9514B75AA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project directory, and keep your files contained within it.</a:t>
            </a:r>
          </a:p>
        </p:txBody>
      </p:sp>
    </p:spTree>
    <p:extLst>
      <p:ext uri="{BB962C8B-B14F-4D97-AF65-F5344CB8AC3E}">
        <p14:creationId xmlns:p14="http://schemas.microsoft.com/office/powerpoint/2010/main" val="769440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4E67-FADE-D3EC-1070-B662DD04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Separation of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243B6-EE8D-523F-B2A2-0ADC35E41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Separation of concerns is the general principle in which pieces of a project should be separated according to their distinct form and function.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For example, data is separated from “code” files.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Within a research pipeline, preprocessing is separate from analysis, which is separate from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856829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C869-B57E-E448-56CC-8850F44D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Good! Common organization paradigm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B8F97-167D-5046-5A0C-1CC99F00D1E8}"/>
              </a:ext>
            </a:extLst>
          </p:cNvPr>
          <p:cNvSpPr/>
          <p:nvPr/>
        </p:nvSpPr>
        <p:spPr>
          <a:xfrm>
            <a:off x="5234151" y="1523999"/>
            <a:ext cx="1608084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ACAB10-A98B-48AB-8853-1C8E135BB7AD}"/>
              </a:ext>
            </a:extLst>
          </p:cNvPr>
          <p:cNvSpPr/>
          <p:nvPr/>
        </p:nvSpPr>
        <p:spPr>
          <a:xfrm>
            <a:off x="1255985" y="3126824"/>
            <a:ext cx="1608084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933C46-F0E6-1DBB-E5F4-203B24DB7E85}"/>
              </a:ext>
            </a:extLst>
          </p:cNvPr>
          <p:cNvSpPr/>
          <p:nvPr/>
        </p:nvSpPr>
        <p:spPr>
          <a:xfrm>
            <a:off x="5111533" y="3126824"/>
            <a:ext cx="1608084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045577-87E9-9ED3-2538-68825F80FAF3}"/>
              </a:ext>
            </a:extLst>
          </p:cNvPr>
          <p:cNvSpPr/>
          <p:nvPr/>
        </p:nvSpPr>
        <p:spPr>
          <a:xfrm>
            <a:off x="262758" y="4537839"/>
            <a:ext cx="1608084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Raw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F300A5-FB9D-B877-548F-3658A79A7062}"/>
              </a:ext>
            </a:extLst>
          </p:cNvPr>
          <p:cNvSpPr/>
          <p:nvPr/>
        </p:nvSpPr>
        <p:spPr>
          <a:xfrm>
            <a:off x="2254469" y="4537839"/>
            <a:ext cx="1608084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Processed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59AD0-D823-09DF-BD6F-E3772A0DE8D2}"/>
              </a:ext>
            </a:extLst>
          </p:cNvPr>
          <p:cNvSpPr/>
          <p:nvPr/>
        </p:nvSpPr>
        <p:spPr>
          <a:xfrm>
            <a:off x="9795643" y="3126824"/>
            <a:ext cx="1608084" cy="63062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High-level files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7B13EA-03D3-EA2D-6A23-C8EEE13899B3}"/>
              </a:ext>
            </a:extLst>
          </p:cNvPr>
          <p:cNvSpPr/>
          <p:nvPr/>
        </p:nvSpPr>
        <p:spPr>
          <a:xfrm>
            <a:off x="4006193" y="4537839"/>
            <a:ext cx="1608084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Images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58D80-E777-771C-17EF-84D3459841E7}"/>
              </a:ext>
            </a:extLst>
          </p:cNvPr>
          <p:cNvSpPr/>
          <p:nvPr/>
        </p:nvSpPr>
        <p:spPr>
          <a:xfrm>
            <a:off x="6145049" y="4537839"/>
            <a:ext cx="1608084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Reports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16045A99-A073-CCE8-525F-152A9701FDCB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563008" y="651639"/>
            <a:ext cx="972204" cy="397816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1A88E7CC-7220-408C-92D6-AD74451C914C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5400000">
            <a:off x="5490782" y="2579413"/>
            <a:ext cx="972204" cy="12261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CFEAA73-3BB0-E237-A5C7-DABD4CE24994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rot="16200000" flipH="1">
            <a:off x="7832837" y="359976"/>
            <a:ext cx="972204" cy="456149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8C436EBC-924F-0456-893E-EF80BA5C2FAB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5400000">
            <a:off x="1173217" y="3651029"/>
            <a:ext cx="780394" cy="99322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8AE9BD27-3CA4-4364-FAD3-F939E52BAF35}"/>
              </a:ext>
            </a:extLst>
          </p:cNvPr>
          <p:cNvCxnSpPr>
            <a:stCxn id="5" idx="2"/>
            <a:endCxn id="9" idx="0"/>
          </p:cNvCxnSpPr>
          <p:nvPr/>
        </p:nvCxnSpPr>
        <p:spPr>
          <a:xfrm rot="16200000" flipH="1">
            <a:off x="2169072" y="3648400"/>
            <a:ext cx="780394" cy="99848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2CE79422-8D76-08AE-6C49-D88C3F5E5B34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rot="5400000">
            <a:off x="4972708" y="3594972"/>
            <a:ext cx="780394" cy="110534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B5C1134D-AE23-5925-7F1A-87112177A5E3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rot="16200000" flipH="1">
            <a:off x="6042136" y="3630884"/>
            <a:ext cx="780394" cy="103351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07CFEEA-D56E-592A-8C03-7D892335D000}"/>
              </a:ext>
            </a:extLst>
          </p:cNvPr>
          <p:cNvSpPr/>
          <p:nvPr/>
        </p:nvSpPr>
        <p:spPr>
          <a:xfrm>
            <a:off x="3058598" y="3123014"/>
            <a:ext cx="1822012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Documentation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FC8079-6048-B394-0CB3-EDFBE6C3D0AF}"/>
              </a:ext>
            </a:extLst>
          </p:cNvPr>
          <p:cNvSpPr/>
          <p:nvPr/>
        </p:nvSpPr>
        <p:spPr>
          <a:xfrm>
            <a:off x="8445938" y="3115394"/>
            <a:ext cx="1155262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Scripts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D40CCB-E7FC-6BB7-B3BB-351D157A890C}"/>
              </a:ext>
            </a:extLst>
          </p:cNvPr>
          <p:cNvSpPr/>
          <p:nvPr/>
        </p:nvSpPr>
        <p:spPr>
          <a:xfrm>
            <a:off x="6940988" y="3119204"/>
            <a:ext cx="1311472" cy="63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Exploration</a:t>
            </a:r>
          </a:p>
        </p:txBody>
      </p: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94389641-16EF-1D09-DA57-8479A829ED93}"/>
              </a:ext>
            </a:extLst>
          </p:cNvPr>
          <p:cNvCxnSpPr>
            <a:stCxn id="4" idx="2"/>
            <a:endCxn id="34" idx="0"/>
          </p:cNvCxnSpPr>
          <p:nvPr/>
        </p:nvCxnSpPr>
        <p:spPr>
          <a:xfrm rot="5400000">
            <a:off x="4519702" y="1604523"/>
            <a:ext cx="968394" cy="20685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E9972F8A-CBDC-FF05-B4EF-6BEC688068F2}"/>
              </a:ext>
            </a:extLst>
          </p:cNvPr>
          <p:cNvCxnSpPr>
            <a:stCxn id="4" idx="2"/>
            <a:endCxn id="39" idx="0"/>
          </p:cNvCxnSpPr>
          <p:nvPr/>
        </p:nvCxnSpPr>
        <p:spPr>
          <a:xfrm rot="16200000" flipH="1">
            <a:off x="6335166" y="1857646"/>
            <a:ext cx="964584" cy="155853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78637905-0A5E-958A-A4C3-97CFA889A5F5}"/>
              </a:ext>
            </a:extLst>
          </p:cNvPr>
          <p:cNvCxnSpPr>
            <a:stCxn id="4" idx="2"/>
            <a:endCxn id="38" idx="0"/>
          </p:cNvCxnSpPr>
          <p:nvPr/>
        </p:nvCxnSpPr>
        <p:spPr>
          <a:xfrm rot="16200000" flipH="1">
            <a:off x="7050494" y="1142319"/>
            <a:ext cx="960774" cy="298537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98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B784-4F03-7FEF-50A3-A9377859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7C1D-B7EF-318A-E8C2-9F95F333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See example folder </a:t>
            </a:r>
            <a:r>
              <a:rPr lang="en-US" b="1" i="1" err="1">
                <a:solidFill>
                  <a:schemeClr val="accent1"/>
                </a:solidFill>
              </a:rPr>
              <a:t>Example_Desktop</a:t>
            </a:r>
            <a:r>
              <a:rPr lang="en-US" b="1" i="1">
                <a:solidFill>
                  <a:schemeClr val="accent1"/>
                </a:solidFill>
              </a:rPr>
              <a:t>/Project_1</a:t>
            </a:r>
            <a:endParaRPr lang="en-US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37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DAE2F-CD43-226C-17DD-2250B3FE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 size fits 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C7F87-6C3D-DF6E-BEA6-DB56E1679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previous organizational paradigm is common and a good starting point, but your project may ask for a different structure.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Just make sure you abide by general principles of containment and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154507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396E2-776B-E371-354D-5333C715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D795-FCA2-A169-407F-9D668ABC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11AB-0D3D-593A-09FF-C352EA78E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/>
              <a:t>Note that you won’t always be able to visualize a tree as above. Sometimes the tree structure is written out using tabs and/or lines:</a:t>
            </a:r>
          </a:p>
          <a:p>
            <a:pPr marL="0" indent="0">
              <a:buNone/>
            </a:pPr>
            <a:r>
              <a:rPr lang="en-US" sz="1800">
                <a:latin typeface="Andale Mono" panose="020B0509000000000004" pitchFamily="49" charset="0"/>
              </a:rPr>
              <a:t>Project</a:t>
            </a:r>
          </a:p>
          <a:p>
            <a:pPr marL="0" indent="0">
              <a:buNone/>
            </a:pPr>
            <a:r>
              <a:rPr lang="en-US" sz="1800">
                <a:latin typeface="Andale Mono" panose="020B0509000000000004" pitchFamily="49" charset="0"/>
              </a:rPr>
              <a:t>| - Data</a:t>
            </a:r>
          </a:p>
          <a:p>
            <a:pPr marL="0" indent="0">
              <a:buNone/>
            </a:pPr>
            <a:r>
              <a:rPr lang="en-US" sz="1800">
                <a:latin typeface="Andale Mono" panose="020B0509000000000004" pitchFamily="49" charset="0"/>
              </a:rPr>
              <a:t>    | - Raw</a:t>
            </a:r>
          </a:p>
          <a:p>
            <a:pPr marL="0" indent="0">
              <a:buNone/>
            </a:pPr>
            <a:r>
              <a:rPr lang="en-US" sz="1800">
                <a:latin typeface="Andale Mono" panose="020B0509000000000004" pitchFamily="49" charset="0"/>
              </a:rPr>
              <a:t>    | - Processed</a:t>
            </a:r>
          </a:p>
          <a:p>
            <a:pPr marL="0" indent="0">
              <a:buNone/>
            </a:pPr>
            <a:r>
              <a:rPr lang="en-US" sz="1800">
                <a:latin typeface="Andale Mono" panose="020B0509000000000004" pitchFamily="49" charset="0"/>
              </a:rPr>
              <a:t>| - Scripts </a:t>
            </a:r>
          </a:p>
          <a:p>
            <a:pPr marL="0" indent="0">
              <a:buNone/>
            </a:pPr>
            <a:r>
              <a:rPr lang="en-US" sz="1800">
                <a:latin typeface="Andale Mono" panose="020B0509000000000004" pitchFamily="49" charset="0"/>
              </a:rPr>
              <a:t>| - Results</a:t>
            </a:r>
          </a:p>
          <a:p>
            <a:pPr marL="0" indent="0">
              <a:buNone/>
            </a:pPr>
            <a:r>
              <a:rPr lang="en-US" sz="1800">
                <a:latin typeface="Andale Mono" panose="020B0509000000000004" pitchFamily="49" charset="0"/>
              </a:rPr>
              <a:t>    | - Figures</a:t>
            </a:r>
          </a:p>
          <a:p>
            <a:pPr marL="0" indent="0">
              <a:buNone/>
            </a:pPr>
            <a:r>
              <a:rPr lang="en-US" sz="1800">
                <a:latin typeface="Andale Mono" panose="020B0509000000000004" pitchFamily="49" charset="0"/>
              </a:rPr>
              <a:t>    | - Reports</a:t>
            </a:r>
          </a:p>
          <a:p>
            <a:pPr marL="0" indent="0">
              <a:buNone/>
            </a:pPr>
            <a:r>
              <a:rPr lang="en-US" sz="1800">
                <a:latin typeface="Andale Mono" panose="020B0509000000000004" pitchFamily="49" charset="0"/>
              </a:rPr>
              <a:t>| - </a:t>
            </a:r>
            <a:r>
              <a:rPr lang="en-US" sz="1800" err="1">
                <a:latin typeface="Andale Mono" panose="020B0509000000000004" pitchFamily="49" charset="0"/>
              </a:rPr>
              <a:t>high_level_file</a:t>
            </a:r>
            <a:endParaRPr lang="en-US" sz="180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496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E4EF-492B-D327-11CB-BB20D4C1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7727C-5D81-465D-9782-C19E0510A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Grab a piece of paper and create a draft of your directory structure based on the first exercise.</a:t>
            </a:r>
          </a:p>
          <a:p>
            <a:r>
              <a:rPr lang="en-US" dirty="0"/>
              <a:t>Think about where you will save files by function and by type.</a:t>
            </a:r>
          </a:p>
          <a:p>
            <a:r>
              <a:rPr lang="en-US" dirty="0"/>
              <a:t>You can draw a tree diagram or write it out in linear format as above.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Then, </a:t>
            </a:r>
            <a:r>
              <a:rPr lang="en-US" b="1" dirty="0"/>
              <a:t>create the respective directories in your computer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57558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8546-6A8B-50F3-A4EE-8C5AE207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 on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4DB79-D167-5D4E-F3B9-D436DF901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You may be tempted to add supporting literature (research papers, etc.) to your project directory. However, you will often use overlapping literature for different projects.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Instead, I recommend you organize literature elsewhere and use a reference management tool like </a:t>
            </a:r>
            <a:r>
              <a:rPr lang="en-US" b="1"/>
              <a:t>Zotero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6214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B8CE-DFAE-A522-EB10-61823854A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57FFA-D8C6-F3FB-DCBA-5F41D98EE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Containment</a:t>
            </a:r>
          </a:p>
          <a:p>
            <a:r>
              <a:rPr lang="en-US"/>
              <a:t>Separation of concerns</a:t>
            </a:r>
          </a:p>
          <a:p>
            <a:r>
              <a:rPr lang="en-US"/>
              <a:t>Modularity</a:t>
            </a:r>
          </a:p>
          <a:p>
            <a:r>
              <a:rPr lang="en-US"/>
              <a:t>Hierarchy</a:t>
            </a:r>
          </a:p>
          <a:p>
            <a:r>
              <a:rPr lang="en-US"/>
              <a:t>Efficiency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85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326A3-4BB5-D42B-48E9-8B67B858C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4215F4AD-0DB8-1705-2B32-8FAF5348E885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A76AA07-E93E-F199-06BC-50D629462A3C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6110C1D8-3454-4F0D-BD44-3847466D4BA9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4E117886-A42F-A723-CBA5-F5925A82E86E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0EDD48-A0EF-C44B-721A-E6C1BC22C5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Intermezzo 1 - Paths</a:t>
            </a:r>
          </a:p>
        </p:txBody>
      </p:sp>
    </p:spTree>
    <p:extLst>
      <p:ext uri="{BB962C8B-B14F-4D97-AF65-F5344CB8AC3E}">
        <p14:creationId xmlns:p14="http://schemas.microsoft.com/office/powerpoint/2010/main" val="1081801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B3BA-F66D-2226-F710-8FF7B779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current working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4FF1D-C54D-C108-190D-F13686746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directory is a location in your computer (a folder in the desktop, for example)</a:t>
            </a:r>
          </a:p>
          <a:p>
            <a:endParaRPr lang="en-US"/>
          </a:p>
          <a:p>
            <a:r>
              <a:rPr lang="en-US"/>
              <a:t>When running a script, the </a:t>
            </a:r>
            <a:r>
              <a:rPr lang="en-US" i="1"/>
              <a:t>current working directory</a:t>
            </a:r>
            <a:r>
              <a:rPr lang="en-US"/>
              <a:t> (</a:t>
            </a:r>
            <a:r>
              <a:rPr lang="en-US" err="1"/>
              <a:t>cwd</a:t>
            </a:r>
            <a:r>
              <a:rPr lang="en-US"/>
              <a:t>) is the location from where the script is run (set by IDE or terminal)</a:t>
            </a:r>
          </a:p>
          <a:p>
            <a:endParaRPr lang="en-US"/>
          </a:p>
          <a:p>
            <a:r>
              <a:rPr lang="en-US"/>
              <a:t>Not all scripts are at the same location as the </a:t>
            </a:r>
            <a:r>
              <a:rPr lang="en-US" err="1"/>
              <a:t>cwd</a:t>
            </a:r>
            <a:r>
              <a:rPr lang="en-US"/>
              <a:t>, but we should aim for them to be “close by” (see next slide).</a:t>
            </a:r>
          </a:p>
        </p:txBody>
      </p:sp>
    </p:spTree>
    <p:extLst>
      <p:ext uri="{BB962C8B-B14F-4D97-AF65-F5344CB8AC3E}">
        <p14:creationId xmlns:p14="http://schemas.microsoft.com/office/powerpoint/2010/main" val="38207671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B9F0-B3CB-BA62-7DCE-46C43AFC9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Absolute vs relative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79A9D-B783-008F-2EC8-DD6B2A2C3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i="1" dirty="0"/>
              <a:t>absolute</a:t>
            </a:r>
            <a:r>
              <a:rPr lang="en-US" dirty="0"/>
              <a:t> path of a file is the “address” from the root directory of your computer.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/Users/</a:t>
            </a:r>
            <a:r>
              <a:rPr lang="en-US" sz="1800" dirty="0" err="1">
                <a:latin typeface="Andale Mono" panose="020B0509000000000004" pitchFamily="49" charset="0"/>
              </a:rPr>
              <a:t>efren</a:t>
            </a:r>
            <a:r>
              <a:rPr lang="en-US" sz="1800" dirty="0">
                <a:latin typeface="Andale Mono" panose="020B0509000000000004" pitchFamily="49" charset="0"/>
              </a:rPr>
              <a:t>/Desktop/Example/</a:t>
            </a:r>
            <a:r>
              <a:rPr lang="en-US" sz="1800" dirty="0" err="1">
                <a:latin typeface="Andale Mono" panose="020B0509000000000004" pitchFamily="49" charset="0"/>
              </a:rPr>
              <a:t>some_file.txt</a:t>
            </a:r>
            <a:endParaRPr lang="en-US" sz="1800" dirty="0">
              <a:latin typeface="Andale Mono" panose="020B0509000000000004" pitchFamily="49" charset="0"/>
            </a:endParaRPr>
          </a:p>
          <a:p>
            <a:pPr marL="457200" lvl="1" indent="0">
              <a:buNone/>
            </a:pPr>
            <a:endParaRPr lang="en-US" i="1" dirty="0"/>
          </a:p>
          <a:p>
            <a:r>
              <a:rPr lang="en-US" dirty="0"/>
              <a:t>A </a:t>
            </a:r>
            <a:r>
              <a:rPr lang="en-US" i="1" dirty="0"/>
              <a:t>relative</a:t>
            </a:r>
            <a:r>
              <a:rPr lang="en-US" dirty="0"/>
              <a:t> path is the address as viewed from a different starting point. For example, if I’m on the Desktop already: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Example/</a:t>
            </a:r>
            <a:r>
              <a:rPr lang="en-US" sz="1800" dirty="0" err="1">
                <a:latin typeface="Andale Mono" panose="020B0509000000000004" pitchFamily="49" charset="0"/>
              </a:rPr>
              <a:t>some_file.txt</a:t>
            </a:r>
            <a:endParaRPr lang="en-US" sz="1800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682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0171-EC89-5E24-F079-BE73283BC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Where’s your Desktop?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CDA2F-33E5-4DCC-4C10-8C29C77FE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Note:</a:t>
            </a:r>
          </a:p>
          <a:p>
            <a:pPr marL="0" indent="0">
              <a:buNone/>
            </a:pPr>
            <a:r>
              <a:rPr lang="en-US"/>
              <a:t>On some new laptops, your Desktop folder may be automatically in either iCloud or OneDrive.</a:t>
            </a:r>
          </a:p>
          <a:p>
            <a:r>
              <a:rPr lang="en-US"/>
              <a:t>This means your files are not saved in your computer but in the cloud!</a:t>
            </a:r>
          </a:p>
          <a:p>
            <a:r>
              <a:rPr lang="en-US"/>
              <a:t>Just make sure you know where everything is, and are intentionally using one option or the other.</a:t>
            </a:r>
          </a:p>
        </p:txBody>
      </p:sp>
    </p:spTree>
    <p:extLst>
      <p:ext uri="{BB962C8B-B14F-4D97-AF65-F5344CB8AC3E}">
        <p14:creationId xmlns:p14="http://schemas.microsoft.com/office/powerpoint/2010/main" val="483020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A770-FC6D-B3F8-D40E-C4703BB2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Project’s Root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D681E-EF87-5342-2F3D-907CA589F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top level directory of your project</a:t>
            </a:r>
          </a:p>
          <a:p>
            <a:r>
              <a:rPr lang="en-US" dirty="0"/>
              <a:t>From there, all subdirectories branch off, as in a tree</a:t>
            </a:r>
          </a:p>
          <a:p>
            <a:r>
              <a:rPr lang="en-US" dirty="0"/>
              <a:t>Tomorrow we’ll talk more about the project root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Don’t mistake “project root” for just “root”, which usually refers to the top level directory of your whole computer.</a:t>
            </a:r>
          </a:p>
        </p:txBody>
      </p:sp>
    </p:spTree>
    <p:extLst>
      <p:ext uri="{BB962C8B-B14F-4D97-AF65-F5344CB8AC3E}">
        <p14:creationId xmlns:p14="http://schemas.microsoft.com/office/powerpoint/2010/main" val="919396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FE2FD-451C-1E2F-2024-F188BA8B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F185-35C7-88F5-C3DB-A0E4E12D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relative paths!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057A-730D-0CC8-F5E6-A54DA2374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Common relative path indicators:</a:t>
            </a:r>
          </a:p>
          <a:p>
            <a:pPr lvl="1"/>
            <a:r>
              <a:rPr lang="en-US" dirty="0"/>
              <a:t>Single dot ( . ) indicates current directory</a:t>
            </a:r>
          </a:p>
          <a:p>
            <a:pPr lvl="1"/>
            <a:r>
              <a:rPr lang="en-US" dirty="0"/>
              <a:t>Double dots ( .. ) indicate parent directory</a:t>
            </a:r>
          </a:p>
          <a:p>
            <a:pPr lvl="1"/>
            <a:r>
              <a:rPr lang="en-US" dirty="0"/>
              <a:t> ‘A/B’ indicates B is a sub-directory of A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latin typeface="Andale Mono" panose="020B0509000000000004" pitchFamily="49" charset="0"/>
              </a:rPr>
              <a:t>Data/Raw </a:t>
            </a:r>
            <a:r>
              <a:rPr lang="en-US" dirty="0"/>
              <a:t>(Mac)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latin typeface="Andale Mono" panose="020B0509000000000004" pitchFamily="49" charset="0"/>
              </a:rPr>
              <a:t>Data\Raw</a:t>
            </a:r>
            <a:r>
              <a:rPr lang="en-US" dirty="0"/>
              <a:t> (Windows)</a:t>
            </a:r>
          </a:p>
          <a:p>
            <a:pPr lvl="1"/>
            <a:r>
              <a:rPr lang="en-US" dirty="0"/>
              <a:t>Lone slash ‘/’ for mac, or ‘C:’ for windows at the beginning mean computer’s root directory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latin typeface="Andale Mono" panose="020B0509000000000004" pitchFamily="49" charset="0"/>
              </a:rPr>
              <a:t>/Users/Alice/Desktop/Project_1</a:t>
            </a:r>
            <a:r>
              <a:rPr lang="en-US" dirty="0"/>
              <a:t> (Mac)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latin typeface="Andale Mono" panose="020B0509000000000004" pitchFamily="49" charset="0"/>
              </a:rPr>
              <a:t>C:\Users\Alice\Desktop\Project_1</a:t>
            </a:r>
            <a:r>
              <a:rPr lang="en-US" dirty="0"/>
              <a:t> (Windows)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Assume I’m on the desktop:</a:t>
            </a:r>
          </a:p>
          <a:p>
            <a:pPr marL="457200" lvl="1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./Project_1/Data</a:t>
            </a:r>
          </a:p>
          <a:p>
            <a:pPr marL="457200" lvl="1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../Downloads</a:t>
            </a:r>
          </a:p>
        </p:txBody>
      </p:sp>
    </p:spTree>
    <p:extLst>
      <p:ext uri="{BB962C8B-B14F-4D97-AF65-F5344CB8AC3E}">
        <p14:creationId xmlns:p14="http://schemas.microsoft.com/office/powerpoint/2010/main" val="28537465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98C1-BB22-D03A-1510-A3A05B5CC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 Standardization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74CF0-24D4-99CD-2399-7786B4987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Paths are written differently for different operating systems (forward and backward slashes being the main culprits)</a:t>
            </a:r>
          </a:p>
          <a:p>
            <a:pPr marL="0" indent="0">
              <a:buNone/>
            </a:pPr>
            <a:endParaRPr lang="en-US"/>
          </a:p>
          <a:p>
            <a:r>
              <a:rPr lang="en-US">
                <a:sym typeface="Wingdings" pitchFamily="2" charset="2"/>
              </a:rPr>
              <a:t>Many languages have a tool to help you standardize paths.</a:t>
            </a:r>
          </a:p>
          <a:p>
            <a:r>
              <a:rPr lang="en-US"/>
              <a:t>In python, for example, </a:t>
            </a:r>
            <a:r>
              <a:rPr lang="en-US" sz="2400" err="1">
                <a:latin typeface="Andale Mono" panose="020B0509000000000004" pitchFamily="49" charset="0"/>
              </a:rPr>
              <a:t>pathlib</a:t>
            </a:r>
            <a:r>
              <a:rPr lang="en-US">
                <a:latin typeface="Andale Mono" panose="020B0509000000000004" pitchFamily="49" charset="0"/>
              </a:rPr>
              <a:t> </a:t>
            </a:r>
            <a:r>
              <a:rPr lang="en-US"/>
              <a:t>does that for you.</a:t>
            </a:r>
            <a:endParaRPr lang="en-US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88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FE02-1317-285F-5557-566C0BC5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CD11E-ACC0-120C-B621-1AEB4C93C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</a:t>
            </a:r>
            <a:r>
              <a:rPr lang="en-US" dirty="0" err="1"/>
              <a:t>jupyter</a:t>
            </a:r>
            <a:r>
              <a:rPr lang="en-US" dirty="0"/>
              <a:t> notebook inside folder </a:t>
            </a:r>
            <a:r>
              <a:rPr lang="en-US" b="1" i="1" dirty="0" err="1">
                <a:solidFill>
                  <a:schemeClr val="accent1"/>
                </a:solidFill>
              </a:rPr>
              <a:t>Example_Paths</a:t>
            </a:r>
            <a:r>
              <a:rPr lang="en-US" b="1" i="1" dirty="0">
                <a:solidFill>
                  <a:schemeClr val="accent1"/>
                </a:solidFill>
              </a:rPr>
              <a:t>/</a:t>
            </a:r>
            <a:r>
              <a:rPr lang="en-US" b="1" i="1" dirty="0" err="1">
                <a:solidFill>
                  <a:schemeClr val="accent1"/>
                </a:solidFill>
              </a:rPr>
              <a:t>Project_Root</a:t>
            </a:r>
            <a:endParaRPr lang="en-US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7746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0C1E-7613-C12B-D7F1-4847F8426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59A3-4BE7-5421-E624-5E4E9F85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38D17-5303-F398-6AA6-80A6901C2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Portability</a:t>
            </a:r>
          </a:p>
          <a:p>
            <a:pPr lvl="1"/>
            <a:r>
              <a:rPr lang="en-US"/>
              <a:t>You can move your folder around and it won’t break.</a:t>
            </a:r>
          </a:p>
          <a:p>
            <a:pPr lvl="1"/>
            <a:endParaRPr lang="en-US"/>
          </a:p>
          <a:p>
            <a:r>
              <a:rPr lang="en-US" b="1"/>
              <a:t>Collaboration</a:t>
            </a:r>
          </a:p>
          <a:p>
            <a:pPr lvl="1"/>
            <a:r>
              <a:rPr lang="en-US"/>
              <a:t>You can share your project with other people!</a:t>
            </a:r>
          </a:p>
        </p:txBody>
      </p:sp>
    </p:spTree>
    <p:extLst>
      <p:ext uri="{BB962C8B-B14F-4D97-AF65-F5344CB8AC3E}">
        <p14:creationId xmlns:p14="http://schemas.microsoft.com/office/powerpoint/2010/main" val="38335225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3690-5271-DB4C-2DB3-AB890115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F162A-A4BC-1651-5672-08696A325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Assume you are situated in “Project_1”. Change the following absolute paths to relative: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/Users/you/Desktop/Project_1/data/</a:t>
            </a:r>
            <a:r>
              <a:rPr lang="en-US" dirty="0" err="1"/>
              <a:t>your_data.csv</a:t>
            </a:r>
            <a:endParaRPr lang="en-US" dirty="0"/>
          </a:p>
          <a:p>
            <a:r>
              <a:rPr lang="en-US" dirty="0"/>
              <a:t>/Users/you/Desktop/Project_1/</a:t>
            </a:r>
            <a:r>
              <a:rPr lang="en-US" dirty="0" err="1"/>
              <a:t>auxiliary_file.py</a:t>
            </a:r>
            <a:endParaRPr lang="en-US" dirty="0"/>
          </a:p>
          <a:p>
            <a:r>
              <a:rPr lang="en-US" dirty="0"/>
              <a:t>/Users/you/Desktop/Project_2/</a:t>
            </a:r>
          </a:p>
          <a:p>
            <a:r>
              <a:rPr lang="en-US" dirty="0"/>
              <a:t>/Users/you/Downloads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are stuck talk to your neighbor!</a:t>
            </a:r>
          </a:p>
        </p:txBody>
      </p:sp>
    </p:spTree>
    <p:extLst>
      <p:ext uri="{BB962C8B-B14F-4D97-AF65-F5344CB8AC3E}">
        <p14:creationId xmlns:p14="http://schemas.microsoft.com/office/powerpoint/2010/main" val="24860767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998C-F5D6-40FF-046C-1A77E223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D251B937-2E13-F777-8D07-AE24B7DC4906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926F14EC-C8FC-A6BE-7314-4C0ADEDDD264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155A5BD-30FF-38C5-B390-CEE60AD7E1FF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63A8BBE9-9112-7CDC-B8D4-16F5C775764B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ABF8E6-1757-7BDD-5B39-0642712ADB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Naming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1971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4D9075F-ED15-6A45-02F6-B3FFA9924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234" y="389774"/>
            <a:ext cx="3615558" cy="600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950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89B20-E6E5-5D98-A28B-7F7129D8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0E8E-5B58-336C-5CD5-0696291EC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 </a:t>
            </a:r>
            <a:r>
              <a:rPr lang="en-US" b="1"/>
              <a:t>specific</a:t>
            </a:r>
            <a:r>
              <a:rPr lang="en-US"/>
              <a:t> and be </a:t>
            </a:r>
            <a:r>
              <a:rPr lang="en-US" b="1"/>
              <a:t>descriptive</a:t>
            </a:r>
          </a:p>
          <a:p>
            <a:r>
              <a:rPr lang="en-US"/>
              <a:t>Be </a:t>
            </a:r>
            <a:r>
              <a:rPr lang="en-US" b="1"/>
              <a:t>consistent</a:t>
            </a:r>
          </a:p>
          <a:p>
            <a:r>
              <a:rPr lang="en-US"/>
              <a:t>Name according to specific function, stage, date, etc.</a:t>
            </a:r>
          </a:p>
          <a:p>
            <a:r>
              <a:rPr lang="en-US"/>
              <a:t>Avoid generic names like </a:t>
            </a:r>
            <a:r>
              <a:rPr lang="en-US" i="1"/>
              <a:t>data.csv</a:t>
            </a:r>
            <a:r>
              <a:rPr lang="en-US"/>
              <a:t>, </a:t>
            </a:r>
            <a:r>
              <a:rPr lang="en-US" i="1"/>
              <a:t>function.py,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547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26EF-6B81-2364-2C13-6C048C7EB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Conventions –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630E9-3DA0-8C42-0AB7-8620EA02D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Avoid file names with version suffixes like:</a:t>
            </a:r>
          </a:p>
          <a:p>
            <a:pPr lvl="1"/>
            <a:r>
              <a:rPr lang="en-US" i="1" err="1"/>
              <a:t>my_file_final.R</a:t>
            </a:r>
            <a:endParaRPr lang="en-US" i="1"/>
          </a:p>
          <a:p>
            <a:pPr lvl="1"/>
            <a:r>
              <a:rPr lang="en-US" i="1" err="1"/>
              <a:t>my_file_final_final.R</a:t>
            </a:r>
            <a:endParaRPr lang="en-US" i="1"/>
          </a:p>
          <a:p>
            <a:pPr lvl="1"/>
            <a:r>
              <a:rPr lang="en-US" i="1" err="1"/>
              <a:t>my_file_final_final_FOR_REALZ_THIS_TIME.R</a:t>
            </a:r>
            <a:endParaRPr lang="en-US" i="1"/>
          </a:p>
          <a:p>
            <a:r>
              <a:rPr lang="en-US"/>
              <a:t>Try to avoid manual versioning (we’ll talk version control soon)</a:t>
            </a:r>
          </a:p>
          <a:p>
            <a:pPr lvl="1"/>
            <a:r>
              <a:rPr lang="en-US" i="1"/>
              <a:t>my_file_v1.m</a:t>
            </a:r>
          </a:p>
          <a:p>
            <a:pPr lvl="1"/>
            <a:r>
              <a:rPr lang="en-US" i="1"/>
              <a:t>my_file_v2.m</a:t>
            </a:r>
          </a:p>
          <a:p>
            <a:r>
              <a:rPr lang="en-US"/>
              <a:t>For data, dating is better 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5937779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0A9F-4053-6275-F409-225D1F9D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Conventions - dating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E906-A079-5A93-6023-E65E55E0E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 the standard date format</a:t>
            </a:r>
          </a:p>
          <a:p>
            <a:pPr lvl="1"/>
            <a:r>
              <a:rPr lang="en-US"/>
              <a:t>YYYY-MM-DD</a:t>
            </a:r>
          </a:p>
          <a:p>
            <a:pPr lvl="1"/>
            <a:r>
              <a:rPr lang="en-US"/>
              <a:t>YYYY_MM_DD</a:t>
            </a:r>
          </a:p>
          <a:p>
            <a:r>
              <a:rPr lang="en-US"/>
              <a:t>Most languages have a function to obtain current date/time.</a:t>
            </a:r>
          </a:p>
          <a:p>
            <a:r>
              <a:rPr lang="en-US"/>
              <a:t>Get in the habit of appending date to data files names as either prefix or suffix.</a:t>
            </a:r>
          </a:p>
          <a:p>
            <a:r>
              <a:rPr lang="en-US"/>
              <a:t>When necessary, also append time of simulation (hour, minute, second).</a:t>
            </a:r>
          </a:p>
        </p:txBody>
      </p:sp>
    </p:spTree>
    <p:extLst>
      <p:ext uri="{BB962C8B-B14F-4D97-AF65-F5344CB8AC3E}">
        <p14:creationId xmlns:p14="http://schemas.microsoft.com/office/powerpoint/2010/main" val="1411933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3011-9D5B-7805-12CB-1B2683AAC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Conventions – casing for legibility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878B1-45B7-165F-71B6-7A3A28ACA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Recommended:</a:t>
            </a:r>
          </a:p>
          <a:p>
            <a:pPr lvl="1"/>
            <a:r>
              <a:rPr lang="en-US" dirty="0" err="1"/>
              <a:t>snake_case</a:t>
            </a:r>
            <a:r>
              <a:rPr lang="en-US" dirty="0"/>
              <a:t>: </a:t>
            </a:r>
            <a:r>
              <a:rPr lang="en-US" i="1" dirty="0" err="1"/>
              <a:t>my_file.py</a:t>
            </a:r>
            <a:endParaRPr lang="en-US" dirty="0"/>
          </a:p>
          <a:p>
            <a:pPr lvl="1"/>
            <a:r>
              <a:rPr lang="en-US" dirty="0"/>
              <a:t>camelCase: </a:t>
            </a:r>
            <a:r>
              <a:rPr lang="en-US" dirty="0" err="1"/>
              <a:t>myFile.js</a:t>
            </a:r>
            <a:endParaRPr lang="en-US" dirty="0"/>
          </a:p>
          <a:p>
            <a:pPr lvl="1"/>
            <a:r>
              <a:rPr lang="en-US" dirty="0"/>
              <a:t>mixed: </a:t>
            </a:r>
            <a:r>
              <a:rPr lang="en-US" i="1" dirty="0"/>
              <a:t>heartData_Evanston_2025_02_24.csv</a:t>
            </a:r>
          </a:p>
          <a:p>
            <a:pPr lvl="1"/>
            <a:endParaRPr lang="en-US" dirty="0"/>
          </a:p>
          <a:p>
            <a:r>
              <a:rPr lang="en-US" dirty="0"/>
              <a:t>Acceptable:</a:t>
            </a:r>
          </a:p>
          <a:p>
            <a:pPr lvl="1"/>
            <a:r>
              <a:rPr lang="en-US" dirty="0"/>
              <a:t>hyphenated-case (usually for folders): </a:t>
            </a:r>
            <a:r>
              <a:rPr lang="en-US" i="1" dirty="0"/>
              <a:t>project-1</a:t>
            </a:r>
          </a:p>
          <a:p>
            <a:pPr lvl="1"/>
            <a:endParaRPr lang="en-US" i="1" dirty="0"/>
          </a:p>
          <a:p>
            <a:r>
              <a:rPr lang="en-US" dirty="0"/>
              <a:t>Avoid:</a:t>
            </a:r>
          </a:p>
          <a:p>
            <a:pPr lvl="1"/>
            <a:r>
              <a:rPr lang="en-US" dirty="0"/>
              <a:t>spaced names: </a:t>
            </a:r>
            <a:r>
              <a:rPr lang="en-US" i="1" dirty="0"/>
              <a:t>project </a:t>
            </a:r>
            <a:r>
              <a:rPr lang="en-US" i="1" dirty="0" err="1"/>
              <a:t>report.pdf</a:t>
            </a:r>
            <a:endParaRPr lang="en-US" i="1" dirty="0"/>
          </a:p>
          <a:p>
            <a:pPr lvl="1"/>
            <a:r>
              <a:rPr lang="en-US" dirty="0"/>
              <a:t>dotted*: </a:t>
            </a:r>
            <a:r>
              <a:rPr lang="en-US" i="1" dirty="0" err="1"/>
              <a:t>heat.data.evanston.csv</a:t>
            </a:r>
            <a:endParaRPr lang="en-US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7FD31-6B21-19A9-65CC-AB837B94CA1B}"/>
              </a:ext>
            </a:extLst>
          </p:cNvPr>
          <p:cNvSpPr txBox="1"/>
          <p:nvPr/>
        </p:nvSpPr>
        <p:spPr>
          <a:xfrm>
            <a:off x="2984941" y="6379779"/>
            <a:ext cx="9133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 Some authors recommend dotted naming. I discourage it as it is quite confusing and unacceptable under some language conventions.</a:t>
            </a:r>
          </a:p>
        </p:txBody>
      </p:sp>
    </p:spTree>
    <p:extLst>
      <p:ext uri="{BB962C8B-B14F-4D97-AF65-F5344CB8AC3E}">
        <p14:creationId xmlns:p14="http://schemas.microsoft.com/office/powerpoint/2010/main" val="31795047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23D8B-4B06-2CC6-BA8C-699A3DDCC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Note on Data, Dates, and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B5138-AC6F-439A-5DA8-05CDDD2BB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Occasionally, I generate a lot of data files within a single simulation. In this case, instead of naming:</a:t>
            </a:r>
          </a:p>
          <a:p>
            <a:pPr lvl="1"/>
            <a:r>
              <a:rPr lang="en-US" dirty="0"/>
              <a:t>YYYY_MM_DD_hh_mm_ss_simulation_001.mat</a:t>
            </a:r>
          </a:p>
          <a:p>
            <a:pPr lvl="1"/>
            <a:r>
              <a:rPr lang="en-US" dirty="0"/>
              <a:t>YYYY_MM_DD_hh_mm_ss_simulation_002.mat</a:t>
            </a:r>
          </a:p>
          <a:p>
            <a:pPr lvl="1"/>
            <a:r>
              <a:rPr lang="en-US" dirty="0"/>
              <a:t>YYYY_MM_DD_hh_mm_ss_simulation_003.mat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 make a folder </a:t>
            </a:r>
            <a:r>
              <a:rPr lang="en-US" i="1" dirty="0"/>
              <a:t>per run</a:t>
            </a:r>
            <a:r>
              <a:rPr lang="en-US" dirty="0"/>
              <a:t> inside my results folder, and save only the generated data of that run in there:</a:t>
            </a:r>
          </a:p>
          <a:p>
            <a:r>
              <a:rPr lang="en-US" dirty="0" err="1"/>
              <a:t>YYYY_MM_DD_hh_mm_ss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simulation_001.mat</a:t>
            </a:r>
          </a:p>
          <a:p>
            <a:pPr lvl="1"/>
            <a:r>
              <a:rPr lang="en-US" dirty="0"/>
              <a:t>simulation_002.mat</a:t>
            </a:r>
          </a:p>
          <a:p>
            <a:pPr lvl="1"/>
            <a:r>
              <a:rPr lang="en-US" dirty="0"/>
              <a:t>simulation_003.mat</a:t>
            </a:r>
          </a:p>
          <a:p>
            <a:pPr lvl="1"/>
            <a:r>
              <a:rPr lang="en-US" dirty="0" err="1"/>
              <a:t>simulation_info.txt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846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908B-394F-56C5-AF57-E4E497FF1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EE056-2CCB-127E-71AA-76EA9C974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Usability</a:t>
            </a:r>
          </a:p>
          <a:p>
            <a:r>
              <a:rPr lang="en-US"/>
              <a:t>Portability</a:t>
            </a:r>
          </a:p>
          <a:p>
            <a:r>
              <a:rPr lang="en-US"/>
              <a:t>Automation</a:t>
            </a:r>
          </a:p>
          <a:p>
            <a:r>
              <a:rPr lang="en-US"/>
              <a:t>Collaboration</a:t>
            </a:r>
          </a:p>
        </p:txBody>
      </p:sp>
    </p:spTree>
    <p:extLst>
      <p:ext uri="{BB962C8B-B14F-4D97-AF65-F5344CB8AC3E}">
        <p14:creationId xmlns:p14="http://schemas.microsoft.com/office/powerpoint/2010/main" val="8370850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A25C-6650-C9F5-DC39-34E300AF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BCBFFF55-AE5D-66E5-CF15-2F3B237E57D1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6D3DC6D6-EDDC-D81B-C685-C04A6E5EFF00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1F866C8-F64B-8D77-D21F-656A4E3403D4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4D5139C8-D8B3-440E-98BF-60DC7AB50189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9E47B0-790C-EB9D-4150-B702CAF1B0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5503317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DECE-DFE0-54B0-D9E8-CF82AE2D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to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49654-0F30-7176-F8AE-04D273212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README file for the whole project.</a:t>
            </a:r>
          </a:p>
          <a:p>
            <a:r>
              <a:rPr lang="en-US"/>
              <a:t>Specific observations / thoughts, etc. (appropriately placed in directory tree structure).</a:t>
            </a:r>
          </a:p>
          <a:p>
            <a:r>
              <a:rPr lang="en-US"/>
              <a:t>Inside your script.</a:t>
            </a:r>
          </a:p>
        </p:txBody>
      </p:sp>
    </p:spTree>
    <p:extLst>
      <p:ext uri="{BB962C8B-B14F-4D97-AF65-F5344CB8AC3E}">
        <p14:creationId xmlns:p14="http://schemas.microsoft.com/office/powerpoint/2010/main" val="16895968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5853A-FCA7-8FC2-39B9-74CE2DF4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README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C30CB-3CA4-C361-7045-261707D3C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Overall description of the project</a:t>
            </a:r>
          </a:p>
          <a:p>
            <a:r>
              <a:rPr lang="en-US"/>
              <a:t>General requirements</a:t>
            </a:r>
          </a:p>
          <a:p>
            <a:r>
              <a:rPr lang="en-US"/>
              <a:t>Other general information (structure, explanations, semantics, conventions)</a:t>
            </a:r>
          </a:p>
          <a:p>
            <a:r>
              <a:rPr lang="en-US"/>
              <a:t>Example usage</a:t>
            </a:r>
          </a:p>
        </p:txBody>
      </p:sp>
    </p:spTree>
    <p:extLst>
      <p:ext uri="{BB962C8B-B14F-4D97-AF65-F5344CB8AC3E}">
        <p14:creationId xmlns:p14="http://schemas.microsoft.com/office/powerpoint/2010/main" val="21025632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95F5-5F25-D362-BE69-52491FCD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2727-6BB8-3AF2-8DE1-85577B282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See example </a:t>
            </a:r>
            <a:r>
              <a:rPr lang="en-US" b="1" i="1" err="1">
                <a:solidFill>
                  <a:schemeClr val="accent1"/>
                </a:solidFill>
              </a:rPr>
              <a:t>Example_Desktop</a:t>
            </a:r>
            <a:r>
              <a:rPr lang="en-US" b="1" i="1">
                <a:solidFill>
                  <a:schemeClr val="accent1"/>
                </a:solidFill>
              </a:rPr>
              <a:t>/Project_2</a:t>
            </a:r>
            <a:endParaRPr lang="en-US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5026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7BD7-2B4D-68D4-5CDA-4253D8DB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1D0F-B10C-6FA3-6B2F-0AECF1BA7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Reproducibility</a:t>
            </a:r>
          </a:p>
          <a:p>
            <a:r>
              <a:rPr lang="en-US"/>
              <a:t>Collaboration</a:t>
            </a:r>
          </a:p>
        </p:txBody>
      </p:sp>
    </p:spTree>
    <p:extLst>
      <p:ext uri="{BB962C8B-B14F-4D97-AF65-F5344CB8AC3E}">
        <p14:creationId xmlns:p14="http://schemas.microsoft.com/office/powerpoint/2010/main" val="19396738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020D-627B-C02C-6746-7487D733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txt vs 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3627-5D3C-35BC-7FD0-41480871D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My README file had a weird suffix: </a:t>
            </a:r>
            <a:r>
              <a:rPr lang="en-US" b="1"/>
              <a:t>.md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What is this about? Well...</a:t>
            </a:r>
          </a:p>
        </p:txBody>
      </p:sp>
    </p:spTree>
    <p:extLst>
      <p:ext uri="{BB962C8B-B14F-4D97-AF65-F5344CB8AC3E}">
        <p14:creationId xmlns:p14="http://schemas.microsoft.com/office/powerpoint/2010/main" val="9514065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F067-0EC5-CE6A-856E-D9CF19AC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EAF62BD6-68D7-D472-734D-3373C5FCC5C0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DEE2AE13-E484-4B30-E424-64C8989542CC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7E7C566-04EE-4A4F-8B56-A74913B276F2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09B9D81-DA3A-D050-B9C4-78FF82D5E98B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2E6259-3941-D6FA-3B00-8157E26878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Intermezzo 2 – File Types</a:t>
            </a:r>
          </a:p>
        </p:txBody>
      </p:sp>
    </p:spTree>
    <p:extLst>
      <p:ext uri="{BB962C8B-B14F-4D97-AF65-F5344CB8AC3E}">
        <p14:creationId xmlns:p14="http://schemas.microsoft.com/office/powerpoint/2010/main" val="3996001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AB55-4871-4F3F-039F-C46F5ECE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should README be?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2CA4-9EEF-FE8D-F100-6F3AE59CE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may have seen README files as:</a:t>
            </a:r>
          </a:p>
          <a:p>
            <a:pPr lvl="1"/>
            <a:r>
              <a:rPr lang="en-US" i="1" err="1"/>
              <a:t>README.txt</a:t>
            </a:r>
            <a:endParaRPr lang="en-US" i="1"/>
          </a:p>
          <a:p>
            <a:pPr lvl="1"/>
            <a:r>
              <a:rPr lang="en-US" i="1" err="1"/>
              <a:t>README.md</a:t>
            </a:r>
            <a:endParaRPr lang="en-US" i="1"/>
          </a:p>
          <a:p>
            <a:r>
              <a:rPr lang="en-US"/>
              <a:t>The latter one is a markdown file</a:t>
            </a:r>
          </a:p>
          <a:p>
            <a:pPr lvl="1"/>
            <a:r>
              <a:rPr lang="en-US"/>
              <a:t>This just means it has extra marks for nice formatting, used often in the web.</a:t>
            </a:r>
          </a:p>
        </p:txBody>
      </p:sp>
    </p:spTree>
    <p:extLst>
      <p:ext uri="{BB962C8B-B14F-4D97-AF65-F5344CB8AC3E}">
        <p14:creationId xmlns:p14="http://schemas.microsoft.com/office/powerpoint/2010/main" val="30604651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63EE-A582-4B52-C32C-A6F3C827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Different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F09A8-4F98-216F-9EED-48FB98045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 not be afraid of different file types, you will encounter and work with many, and it’s fine.</a:t>
            </a:r>
          </a:p>
          <a:p>
            <a:r>
              <a:rPr lang="en-US"/>
              <a:t>Learn what each does and how it interacts with others in your project</a:t>
            </a:r>
          </a:p>
        </p:txBody>
      </p:sp>
    </p:spTree>
    <p:extLst>
      <p:ext uri="{BB962C8B-B14F-4D97-AF65-F5344CB8AC3E}">
        <p14:creationId xmlns:p14="http://schemas.microsoft.com/office/powerpoint/2010/main" val="3304695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0B8F2-D56D-51AF-CCC2-B5892686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Data: language specific vs agnostic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92FD1-AD85-C8A7-B9B2-769EE2906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You may be used to saving your data in language-specific formats:</a:t>
            </a:r>
          </a:p>
          <a:p>
            <a:pPr lvl="1"/>
            <a:r>
              <a:rPr lang="en-US"/>
              <a:t>.pickle, .</a:t>
            </a:r>
            <a:r>
              <a:rPr lang="en-US" err="1"/>
              <a:t>pkl</a:t>
            </a:r>
            <a:r>
              <a:rPr lang="en-US"/>
              <a:t>, .mat, .</a:t>
            </a:r>
            <a:r>
              <a:rPr lang="en-US" err="1"/>
              <a:t>rds</a:t>
            </a:r>
            <a:r>
              <a:rPr lang="en-US"/>
              <a:t>, .</a:t>
            </a:r>
            <a:r>
              <a:rPr lang="en-US" err="1"/>
              <a:t>rdata</a:t>
            </a:r>
            <a:r>
              <a:rPr lang="en-US"/>
              <a:t>, etc.</a:t>
            </a:r>
          </a:p>
          <a:p>
            <a:endParaRPr lang="en-US"/>
          </a:p>
          <a:p>
            <a:r>
              <a:rPr lang="en-US"/>
              <a:t>These formats are fast and convenient (often binary), but are not portable and easily shareable.</a:t>
            </a:r>
          </a:p>
          <a:p>
            <a:pPr lvl="1"/>
            <a:r>
              <a:rPr lang="en-US"/>
              <a:t>If your data is huge, you may be forced to use them.</a:t>
            </a:r>
          </a:p>
          <a:p>
            <a:endParaRPr lang="en-US"/>
          </a:p>
          <a:p>
            <a:r>
              <a:rPr lang="en-US"/>
              <a:t>If you want to share data, aim for language-agnostic formats, at least for finalized data:</a:t>
            </a:r>
          </a:p>
          <a:p>
            <a:pPr lvl="1"/>
            <a:r>
              <a:rPr lang="en-US"/>
              <a:t>.csv, .</a:t>
            </a:r>
            <a:r>
              <a:rPr lang="en-US" err="1"/>
              <a:t>json</a:t>
            </a:r>
            <a:endParaRPr lang="en-US"/>
          </a:p>
          <a:p>
            <a:pPr lvl="1"/>
            <a:endParaRPr lang="en-US"/>
          </a:p>
          <a:p>
            <a:r>
              <a:rPr lang="en-US"/>
              <a:t>If you don’t know what a file type is, look it up!</a:t>
            </a:r>
          </a:p>
        </p:txBody>
      </p:sp>
    </p:spTree>
    <p:extLst>
      <p:ext uri="{BB962C8B-B14F-4D97-AF65-F5344CB8AC3E}">
        <p14:creationId xmlns:p14="http://schemas.microsoft.com/office/powerpoint/2010/main" val="27840653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8AB3-4E8F-0C09-22DB-7BD266E6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Auxiliary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C2600-616F-7D44-137A-91CAB73F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You will encounter, and use, a variety of auxiliary files: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To store directory information, configuration parameters, “secrets” (API keys, e.g.), requirements, version control info, etc.</a:t>
            </a:r>
          </a:p>
          <a:p>
            <a:endParaRPr lang="en-US"/>
          </a:p>
          <a:p>
            <a:r>
              <a:rPr lang="en-US"/>
              <a:t>As metadata: to help you read </a:t>
            </a:r>
            <a:r>
              <a:rPr lang="en-US" i="1"/>
              <a:t>other</a:t>
            </a:r>
            <a:r>
              <a:rPr lang="en-US"/>
              <a:t> data files.</a:t>
            </a:r>
          </a:p>
        </p:txBody>
      </p:sp>
    </p:spTree>
    <p:extLst>
      <p:ext uri="{BB962C8B-B14F-4D97-AF65-F5344CB8AC3E}">
        <p14:creationId xmlns:p14="http://schemas.microsoft.com/office/powerpoint/2010/main" val="34375321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29D5-F30E-7B74-96EA-0EDADCAF4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7CEA-602A-A50D-39A8-D28621272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EEG Data (</a:t>
            </a:r>
            <a:r>
              <a:rPr lang="en-US" err="1"/>
              <a:t>BrainVision</a:t>
            </a:r>
            <a:r>
              <a:rPr lang="en-US"/>
              <a:t> format)</a:t>
            </a:r>
          </a:p>
          <a:p>
            <a:r>
              <a:rPr lang="en-US"/>
              <a:t>.</a:t>
            </a:r>
            <a:r>
              <a:rPr lang="en-US" err="1"/>
              <a:t>eeg</a:t>
            </a:r>
            <a:r>
              <a:rPr lang="en-US"/>
              <a:t> </a:t>
            </a:r>
            <a:r>
              <a:rPr lang="en-US">
                <a:sym typeface="Wingdings" pitchFamily="2" charset="2"/>
              </a:rPr>
              <a:t> raw, binary data of voltage measurements</a:t>
            </a:r>
          </a:p>
          <a:p>
            <a:r>
              <a:rPr lang="en-US">
                <a:sym typeface="Wingdings" pitchFamily="2" charset="2"/>
              </a:rPr>
              <a:t>.</a:t>
            </a:r>
            <a:r>
              <a:rPr lang="en-US" err="1">
                <a:sym typeface="Wingdings" pitchFamily="2" charset="2"/>
              </a:rPr>
              <a:t>vhdr</a:t>
            </a:r>
            <a:r>
              <a:rPr lang="en-US">
                <a:sym typeface="Wingdings" pitchFamily="2" charset="2"/>
              </a:rPr>
              <a:t>  header file, metadata like sampling rate</a:t>
            </a:r>
          </a:p>
          <a:p>
            <a:r>
              <a:rPr lang="en-US">
                <a:sym typeface="Wingdings" pitchFamily="2" charset="2"/>
              </a:rPr>
              <a:t>.</a:t>
            </a:r>
            <a:r>
              <a:rPr lang="en-US" err="1">
                <a:sym typeface="Wingdings" pitchFamily="2" charset="2"/>
              </a:rPr>
              <a:t>vmrk</a:t>
            </a:r>
            <a:r>
              <a:rPr lang="en-US">
                <a:sym typeface="Wingdings" pitchFamily="2" charset="2"/>
              </a:rPr>
              <a:t>  records specific times of triggers or events</a:t>
            </a:r>
          </a:p>
          <a:p>
            <a:endParaRPr lang="en-US">
              <a:sym typeface="Wingdings" pitchFamily="2" charset="2"/>
            </a:endParaRPr>
          </a:p>
          <a:p>
            <a:pPr marL="0" indent="0">
              <a:buNone/>
            </a:pPr>
            <a:r>
              <a:rPr lang="en-US">
                <a:sym typeface="Wingdings" pitchFamily="2" charset="2"/>
              </a:rPr>
              <a:t>Your data is not always in one single file!</a:t>
            </a:r>
          </a:p>
        </p:txBody>
      </p:sp>
    </p:spTree>
    <p:extLst>
      <p:ext uri="{BB962C8B-B14F-4D97-AF65-F5344CB8AC3E}">
        <p14:creationId xmlns:p14="http://schemas.microsoft.com/office/powerpoint/2010/main" val="38593874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8C0E-AD76-8CA5-225F-0E0BC6456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Project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F75D-6D54-3476-5D67-253CCE11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We’ll talk about these more in Day 2, but pay attention: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.env (usually for secrets and other environment variables)</a:t>
            </a:r>
          </a:p>
          <a:p>
            <a:endParaRPr lang="en-US"/>
          </a:p>
          <a:p>
            <a:r>
              <a:rPr lang="en-US"/>
              <a:t>.</a:t>
            </a:r>
            <a:r>
              <a:rPr lang="en-US" err="1"/>
              <a:t>yaml</a:t>
            </a:r>
            <a:r>
              <a:rPr lang="en-US"/>
              <a:t>, .</a:t>
            </a:r>
            <a:r>
              <a:rPr lang="en-US" err="1"/>
              <a:t>toml</a:t>
            </a:r>
            <a:r>
              <a:rPr lang="en-US"/>
              <a:t> (usually for configuration parameters, requirements)</a:t>
            </a:r>
          </a:p>
          <a:p>
            <a:endParaRPr lang="en-US"/>
          </a:p>
          <a:p>
            <a:r>
              <a:rPr lang="en-US"/>
              <a:t>.</a:t>
            </a:r>
            <a:r>
              <a:rPr lang="en-US" err="1"/>
              <a:t>gitignore</a:t>
            </a:r>
            <a:r>
              <a:rPr lang="en-US"/>
              <a:t> (which files to ignore by Git, more on this later)</a:t>
            </a:r>
          </a:p>
        </p:txBody>
      </p:sp>
    </p:spTree>
    <p:extLst>
      <p:ext uri="{BB962C8B-B14F-4D97-AF65-F5344CB8AC3E}">
        <p14:creationId xmlns:p14="http://schemas.microsoft.com/office/powerpoint/2010/main" val="38062676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DAF8-2495-4A71-C136-048905BE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Seeing hidden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75BA-149B-62DB-A15E-8B22F7FC0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Invisible files start with a single dot “.”</a:t>
            </a:r>
          </a:p>
          <a:p>
            <a:pPr lvl="1"/>
            <a:r>
              <a:rPr lang="en-US"/>
              <a:t>.</a:t>
            </a:r>
            <a:r>
              <a:rPr lang="en-US" err="1"/>
              <a:t>gitignore</a:t>
            </a:r>
            <a:endParaRPr lang="en-US"/>
          </a:p>
          <a:p>
            <a:pPr lvl="1"/>
            <a:r>
              <a:rPr lang="en-US"/>
              <a:t>.env</a:t>
            </a:r>
          </a:p>
          <a:p>
            <a:pPr lvl="1"/>
            <a:endParaRPr lang="en-US"/>
          </a:p>
          <a:p>
            <a:r>
              <a:rPr lang="en-US"/>
              <a:t>You can see them in your computer, while on your file explorer:</a:t>
            </a:r>
          </a:p>
          <a:p>
            <a:pPr lvl="1"/>
            <a:r>
              <a:rPr lang="en-US"/>
              <a:t>Mac: command + shift + .</a:t>
            </a:r>
          </a:p>
          <a:p>
            <a:pPr lvl="1"/>
            <a:r>
              <a:rPr lang="en-US"/>
              <a:t>Windows: File Explorer -&gt; View -&gt; Hidden items</a:t>
            </a:r>
          </a:p>
        </p:txBody>
      </p:sp>
    </p:spTree>
    <p:extLst>
      <p:ext uri="{BB962C8B-B14F-4D97-AF65-F5344CB8AC3E}">
        <p14:creationId xmlns:p14="http://schemas.microsoft.com/office/powerpoint/2010/main" val="29993012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5961-19B5-D856-CD20-554A3F55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C7FDC-AECC-2811-4D74-C5CE50F19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need the command line or and IDE to create and edit those files.</a:t>
            </a:r>
          </a:p>
          <a:p>
            <a:endParaRPr lang="en-US" dirty="0"/>
          </a:p>
          <a:p>
            <a:r>
              <a:rPr lang="en-US" dirty="0"/>
              <a:t>More on IDEs later.</a:t>
            </a:r>
          </a:p>
        </p:txBody>
      </p:sp>
    </p:spTree>
    <p:extLst>
      <p:ext uri="{BB962C8B-B14F-4D97-AF65-F5344CB8AC3E}">
        <p14:creationId xmlns:p14="http://schemas.microsoft.com/office/powerpoint/2010/main" val="29214260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F26A-4F6D-7D08-B107-1446EE1D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041E1-7671-9773-406F-E4B903B3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Experiment with the IDE you are used to (Jupyter Lab, RStudio, etc.) and see what type of files you can create and edit.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Make a mock </a:t>
            </a:r>
            <a:r>
              <a:rPr lang="en-US" err="1"/>
              <a:t>README.md</a:t>
            </a:r>
            <a:r>
              <a:rPr lang="en-US"/>
              <a:t> file in your project directory.</a:t>
            </a:r>
          </a:p>
        </p:txBody>
      </p:sp>
    </p:spTree>
    <p:extLst>
      <p:ext uri="{BB962C8B-B14F-4D97-AF65-F5344CB8AC3E}">
        <p14:creationId xmlns:p14="http://schemas.microsoft.com/office/powerpoint/2010/main" val="34680341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EBF6-79A3-B3ED-00FC-053CDB26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6801F-D1F9-BEE1-73BD-98A1E3EB8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Portability</a:t>
            </a:r>
          </a:p>
          <a:p>
            <a:r>
              <a:rPr lang="en-US"/>
              <a:t>Reproducibility</a:t>
            </a:r>
          </a:p>
          <a:p>
            <a:r>
              <a:rPr lang="en-US"/>
              <a:t>Collaboration</a:t>
            </a:r>
          </a:p>
        </p:txBody>
      </p:sp>
    </p:spTree>
    <p:extLst>
      <p:ext uri="{BB962C8B-B14F-4D97-AF65-F5344CB8AC3E}">
        <p14:creationId xmlns:p14="http://schemas.microsoft.com/office/powerpoint/2010/main" val="28085458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C5E2-551C-79F9-FF89-2C2E6089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E7DA882B-A949-9865-662B-C0E43C256EF5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BC432DE0-DD6A-A8F9-DC64-D9A94C1398F8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01E944B-8560-5697-33F2-331AE1715376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6A78ABC2-C4EF-FE94-45E5-A253BC784E3F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AEDA02-6A2C-8987-B3D3-E21FFB1F80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Command Line</a:t>
            </a:r>
          </a:p>
        </p:txBody>
      </p:sp>
    </p:spTree>
    <p:extLst>
      <p:ext uri="{BB962C8B-B14F-4D97-AF65-F5344CB8AC3E}">
        <p14:creationId xmlns:p14="http://schemas.microsoft.com/office/powerpoint/2010/main" val="1425422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3507-03EF-1F5D-59DE-6095D8E2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command line interface (CLI)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D9EAE-38FC-64A0-2F9B-1859C1EB0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Text based interface to communicate with your operating system</a:t>
            </a:r>
          </a:p>
          <a:p>
            <a:pPr lvl="1"/>
            <a:r>
              <a:rPr lang="en-US"/>
              <a:t>Terminal</a:t>
            </a:r>
          </a:p>
          <a:p>
            <a:pPr lvl="1"/>
            <a:r>
              <a:rPr lang="en-US"/>
              <a:t>Console</a:t>
            </a:r>
          </a:p>
          <a:p>
            <a:pPr lvl="1"/>
            <a:r>
              <a:rPr lang="en-US"/>
              <a:t>Prompt</a:t>
            </a:r>
          </a:p>
          <a:p>
            <a:pPr lvl="1"/>
            <a:endParaRPr lang="en-US"/>
          </a:p>
          <a:p>
            <a:r>
              <a:rPr lang="en-US"/>
              <a:t>You will certainly need it for your projects, but don’t be afraid, you don’t need to learn everything about it.</a:t>
            </a:r>
          </a:p>
        </p:txBody>
      </p:sp>
    </p:spTree>
    <p:extLst>
      <p:ext uri="{BB962C8B-B14F-4D97-AF65-F5344CB8AC3E}">
        <p14:creationId xmlns:p14="http://schemas.microsoft.com/office/powerpoint/2010/main" val="1664740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4B46F-B4C3-4DFA-87AF-90535791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B4C2F-3DD3-4D08-5051-E102776C7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When working on a </a:t>
            </a:r>
            <a:r>
              <a:rPr lang="en-US" dirty="0" err="1"/>
              <a:t>powerpoint</a:t>
            </a:r>
            <a:r>
              <a:rPr lang="en-US" dirty="0"/>
              <a:t> presentation, there are “add-ons” or “plug-ins” that help you achieve X, but are not default implementations of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Similarly, programming projects often rely on external tools for specific purposes (downloading packages, version control, connecting to remote servers, etc.)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tools don’t come with a nice graphical interface (too much work!), but you can run them on the command line!</a:t>
            </a:r>
          </a:p>
          <a:p>
            <a:r>
              <a:rPr lang="en-US" dirty="0"/>
              <a:t>their use can be automated</a:t>
            </a:r>
          </a:p>
          <a:p>
            <a:r>
              <a:rPr lang="en-US" dirty="0"/>
              <a:t>commands are precise and reproducible</a:t>
            </a:r>
          </a:p>
        </p:txBody>
      </p:sp>
    </p:spTree>
    <p:extLst>
      <p:ext uri="{BB962C8B-B14F-4D97-AF65-F5344CB8AC3E}">
        <p14:creationId xmlns:p14="http://schemas.microsoft.com/office/powerpoint/2010/main" val="8052628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2D3A-B43A-94E3-A269-EF7AE02D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Who’s afraid of the CLI?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728CC-A821-07DD-D251-4CE176E33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tools will require you to run commands from the CLI, if anything just for installation.</a:t>
            </a:r>
          </a:p>
          <a:p>
            <a:r>
              <a:rPr lang="en-US" dirty="0"/>
              <a:t>Usually, these tools have clear instructions on how to use it and what to run.</a:t>
            </a:r>
          </a:p>
          <a:p>
            <a:r>
              <a:rPr lang="en-US" dirty="0"/>
              <a:t>You don’t need to learn everything now. Important steps:</a:t>
            </a:r>
          </a:p>
          <a:p>
            <a:pPr lvl="1"/>
            <a:r>
              <a:rPr lang="en-US" dirty="0"/>
              <a:t>Get comfortable with opening and closing it</a:t>
            </a:r>
          </a:p>
          <a:p>
            <a:pPr lvl="1"/>
            <a:r>
              <a:rPr lang="en-US" dirty="0"/>
              <a:t>Learn how to change directories</a:t>
            </a:r>
          </a:p>
        </p:txBody>
      </p:sp>
    </p:spTree>
    <p:extLst>
      <p:ext uri="{BB962C8B-B14F-4D97-AF65-F5344CB8AC3E}">
        <p14:creationId xmlns:p14="http://schemas.microsoft.com/office/powerpoint/2010/main" val="21383784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BDAB-BCAC-EADF-E4B6-4484F38D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A3D61-A6FC-7D76-08C4-80E9232C5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Changing directories</a:t>
            </a:r>
          </a:p>
          <a:p>
            <a:r>
              <a:rPr lang="en-US" dirty="0"/>
              <a:t>Listing directories</a:t>
            </a:r>
          </a:p>
          <a:p>
            <a:endParaRPr lang="en-US" dirty="0"/>
          </a:p>
          <a:p>
            <a:r>
              <a:rPr lang="en-US" dirty="0"/>
              <a:t>See live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2031D-F6FA-D8B2-9530-E9B0961D0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930" y="2729891"/>
            <a:ext cx="57658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535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CAF2-B024-9F90-CF1B-E82C74F1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FB031-D09D-C45B-F4EE-43AB0B43C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your:</a:t>
            </a:r>
          </a:p>
          <a:p>
            <a:r>
              <a:rPr lang="en-US" dirty="0"/>
              <a:t>PowerShell if on Windows</a:t>
            </a:r>
          </a:p>
          <a:p>
            <a:r>
              <a:rPr lang="en-US" dirty="0"/>
              <a:t>Terminal if on Mac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Look up the commands to change directory and to list files online</a:t>
            </a:r>
          </a:p>
          <a:p>
            <a:pPr marL="514350" indent="-514350">
              <a:buAutoNum type="arabicPeriod"/>
            </a:pPr>
            <a:r>
              <a:rPr lang="en-US" dirty="0"/>
              <a:t>Play around for a bit!</a:t>
            </a:r>
          </a:p>
        </p:txBody>
      </p:sp>
    </p:spTree>
    <p:extLst>
      <p:ext uri="{BB962C8B-B14F-4D97-AF65-F5344CB8AC3E}">
        <p14:creationId xmlns:p14="http://schemas.microsoft.com/office/powerpoint/2010/main" val="22653375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97DB-A403-DA93-5A1A-20E80058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DBDE2470-D95C-3D53-71AC-B1AEC8F4DBBB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46DB2AFC-2534-056D-4516-2D8D7C9D4EB9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4564A103-1A72-9BE1-51EF-848E258EDF33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F762E13-7C3E-FCB7-E2C9-35987F2D731C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65CECB-915E-4D01-E0BA-D2EA3A903A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1954880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8DF7-28CD-18ED-DF81-3181CB381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and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5E7A7-C135-E635-54E6-EA5DF1957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Version control is any protocol used to keep track of versions of your code (or other materials) as you develop it.</a:t>
            </a:r>
          </a:p>
          <a:p>
            <a:r>
              <a:rPr lang="en-US"/>
              <a:t>A version control system is any specific software that helps you achieve the above.</a:t>
            </a:r>
          </a:p>
          <a:p>
            <a:pPr lvl="1"/>
            <a:r>
              <a:rPr lang="en-US"/>
              <a:t>Helps you avoid manual version control: </a:t>
            </a:r>
            <a:r>
              <a:rPr lang="en-US" i="1"/>
              <a:t>file_v1</a:t>
            </a:r>
            <a:r>
              <a:rPr lang="en-US"/>
              <a:t>, </a:t>
            </a:r>
            <a:r>
              <a:rPr lang="en-US" i="1"/>
              <a:t>file_v2</a:t>
            </a:r>
            <a:r>
              <a:rPr lang="en-US"/>
              <a:t>, etc.</a:t>
            </a:r>
          </a:p>
          <a:p>
            <a:r>
              <a:rPr lang="en-US"/>
              <a:t>The most common </a:t>
            </a:r>
            <a:r>
              <a:rPr lang="en-US" err="1"/>
              <a:t>vcs</a:t>
            </a:r>
            <a:r>
              <a:rPr lang="en-US"/>
              <a:t> is Git</a:t>
            </a:r>
          </a:p>
          <a:p>
            <a:r>
              <a:rPr lang="en-US"/>
              <a:t>Using a version control tool is indispensable for efficient and robust collaboration!</a:t>
            </a:r>
          </a:p>
        </p:txBody>
      </p:sp>
    </p:spTree>
    <p:extLst>
      <p:ext uri="{BB962C8B-B14F-4D97-AF65-F5344CB8AC3E}">
        <p14:creationId xmlns:p14="http://schemas.microsoft.com/office/powerpoint/2010/main" val="3891190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83D43-E078-8317-1208-72638860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C25235-AF82-07A2-380B-74B96D154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5265420" cy="4703763"/>
          </a:xfrm>
        </p:spPr>
        <p:txBody>
          <a:bodyPr>
            <a:normAutofit/>
          </a:bodyPr>
          <a:lstStyle/>
          <a:p>
            <a:r>
              <a:rPr lang="en-US" sz="2400"/>
              <a:t>Each point is a new version of your code. You can keep track of these on the central line.</a:t>
            </a:r>
          </a:p>
          <a:p>
            <a:endParaRPr lang="en-US" sz="2400"/>
          </a:p>
          <a:p>
            <a:r>
              <a:rPr lang="en-US" sz="2400"/>
              <a:t>You may want to experiment with changing some aspects of your code, so you branch off, and later “merge” with the main line.</a:t>
            </a:r>
          </a:p>
          <a:p>
            <a:endParaRPr lang="en-US" sz="2400"/>
          </a:p>
          <a:p>
            <a:r>
              <a:rPr lang="en-US" sz="2400"/>
              <a:t>Alternatively, you may share with a collaborator, who will make changes, and then merge.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FFDCA2-61D8-03B1-F0E6-3847E05FC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661" y="2761846"/>
            <a:ext cx="4501207" cy="11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548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4727-1026-C624-557E-508B0CC1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A11B7-9E7F-F4C7-7C17-FADCE8054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don’t have time to help you install and learn git, but we have materials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.</a:t>
            </a:r>
          </a:p>
          <a:p>
            <a:r>
              <a:rPr lang="en-US" dirty="0"/>
              <a:t>It’s easy to use, and to get started you need to learn 5 words:</a:t>
            </a:r>
          </a:p>
          <a:p>
            <a:pPr lvl="1"/>
            <a:r>
              <a:rPr lang="en-US" dirty="0" err="1"/>
              <a:t>init</a:t>
            </a:r>
            <a:r>
              <a:rPr lang="en-US" dirty="0"/>
              <a:t>, status, add, commit –m</a:t>
            </a:r>
          </a:p>
          <a:p>
            <a:endParaRPr lang="en-US" dirty="0"/>
          </a:p>
          <a:p>
            <a:r>
              <a:rPr lang="en-US" dirty="0">
                <a:solidFill>
                  <a:schemeClr val="accent3"/>
                </a:solidFill>
              </a:rPr>
              <a:t>(Live demonstration)</a:t>
            </a:r>
          </a:p>
        </p:txBody>
      </p:sp>
    </p:spTree>
    <p:extLst>
      <p:ext uri="{BB962C8B-B14F-4D97-AF65-F5344CB8AC3E}">
        <p14:creationId xmlns:p14="http://schemas.microsoft.com/office/powerpoint/2010/main" val="22959030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7981-473C-120B-7A06-18DA0B4D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1076E-512F-A670-568A-5C84C95D1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GitHub is a website that allows you to:</a:t>
            </a:r>
          </a:p>
          <a:p>
            <a:pPr lvl="1"/>
            <a:r>
              <a:rPr lang="en-US"/>
              <a:t>Host Git repositories online</a:t>
            </a:r>
          </a:p>
          <a:p>
            <a:pPr lvl="1"/>
            <a:r>
              <a:rPr lang="en-US"/>
              <a:t>Perform Git actions through a graphical interface</a:t>
            </a:r>
          </a:p>
          <a:p>
            <a:endParaRPr lang="en-US"/>
          </a:p>
          <a:p>
            <a:r>
              <a:rPr lang="en-US"/>
              <a:t>You can sync your local project with GitHub in several ways:</a:t>
            </a:r>
          </a:p>
          <a:p>
            <a:pPr lvl="1"/>
            <a:r>
              <a:rPr lang="en-US"/>
              <a:t>Through a command line interface (terminal, etc.)</a:t>
            </a:r>
          </a:p>
          <a:p>
            <a:pPr lvl="1"/>
            <a:r>
              <a:rPr lang="en-US"/>
              <a:t>Through an IDE</a:t>
            </a:r>
          </a:p>
          <a:p>
            <a:pPr lvl="1"/>
            <a:r>
              <a:rPr lang="en-US"/>
              <a:t>Through the GitHub Desktop App</a:t>
            </a:r>
          </a:p>
          <a:p>
            <a:endParaRPr lang="en-US"/>
          </a:p>
          <a:p>
            <a:r>
              <a:rPr lang="en-US"/>
              <a:t>I recommend starting with the terminal, may take a bit of searching and learning but the payoff is worth it</a:t>
            </a:r>
          </a:p>
        </p:txBody>
      </p:sp>
    </p:spTree>
    <p:extLst>
      <p:ext uri="{BB962C8B-B14F-4D97-AF65-F5344CB8AC3E}">
        <p14:creationId xmlns:p14="http://schemas.microsoft.com/office/powerpoint/2010/main" val="24655391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94BB-6670-F2C0-05B1-BE2ECFCF5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</a:t>
            </a:r>
            <a:r>
              <a:rPr lang="en-US" err="1"/>
              <a:t>gitignore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E2416-0CF7-4801-8C1C-443CD0341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</a:rPr>
              <a:t>VERY IMPORTANT</a:t>
            </a:r>
          </a:p>
          <a:p>
            <a:pPr marL="0" indent="0">
              <a:buNone/>
            </a:pPr>
            <a:r>
              <a:rPr lang="en-US"/>
              <a:t>The </a:t>
            </a:r>
            <a:r>
              <a:rPr lang="en-US" i="1"/>
              <a:t>.</a:t>
            </a:r>
            <a:r>
              <a:rPr lang="en-US" i="1" err="1"/>
              <a:t>gitignore</a:t>
            </a:r>
            <a:r>
              <a:rPr lang="en-US"/>
              <a:t> file tells Git which files to ignore. This is a very important file if you use GitHub or another public repository to avoid sharing </a:t>
            </a:r>
            <a:r>
              <a:rPr lang="en-US" b="1"/>
              <a:t>secret information</a:t>
            </a:r>
            <a:r>
              <a:rPr lang="en-US"/>
              <a:t> (for example API keys) online.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You can find </a:t>
            </a:r>
            <a:r>
              <a:rPr lang="en-US" i="1"/>
              <a:t>.</a:t>
            </a:r>
            <a:r>
              <a:rPr lang="en-US" i="1" err="1"/>
              <a:t>gitignore</a:t>
            </a:r>
            <a:r>
              <a:rPr lang="en-US"/>
              <a:t> templates for your favorite programming language </a:t>
            </a:r>
            <a:r>
              <a:rPr lang="en-US">
                <a:hlinkClick r:id="rId2"/>
              </a:rPr>
              <a:t>here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Never upload secret or sensitive information to GitHub!!</a:t>
            </a:r>
          </a:p>
        </p:txBody>
      </p:sp>
    </p:spTree>
    <p:extLst>
      <p:ext uri="{BB962C8B-B14F-4D97-AF65-F5344CB8AC3E}">
        <p14:creationId xmlns:p14="http://schemas.microsoft.com/office/powerpoint/2010/main" val="24563807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B47E-16D6-6634-1B0D-80E60780E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0D1E1-9508-4964-AC19-22D71D4B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Collaboration</a:t>
            </a:r>
          </a:p>
          <a:p>
            <a:r>
              <a:rPr lang="en-US"/>
              <a:t>Version Control</a:t>
            </a:r>
          </a:p>
          <a:p>
            <a:r>
              <a:rPr lang="en-US"/>
              <a:t>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31964652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3F6B5-5124-E27D-E2FA-AFD4D4A9E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6B4E30B7-ACCA-39CE-67F5-8714F3D07312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9CCEF448-94C3-8DF4-C7AC-AB023BC5345F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46B1F2E5-9CE0-34CD-157A-68DC0200B6FB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F45B6ADC-E125-8C72-747B-342C32E6A032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DC52E4-31F3-ED2E-670C-1029EE9DB95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Integrated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8455334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195CB-62AD-4B83-1B8B-FB5385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528F7-A956-F50D-611D-BA98541A6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Integrated Development Environments (IDEs) have many advantages besides editing scripts</a:t>
            </a:r>
          </a:p>
          <a:p>
            <a:r>
              <a:rPr lang="en-US" dirty="0"/>
              <a:t>Enhance productivity</a:t>
            </a:r>
          </a:p>
          <a:p>
            <a:r>
              <a:rPr lang="en-US" dirty="0"/>
              <a:t>Facilitate project management and Organization</a:t>
            </a:r>
          </a:p>
          <a:p>
            <a:r>
              <a:rPr lang="en-US" dirty="0"/>
              <a:t>Help with version control</a:t>
            </a:r>
          </a:p>
          <a:p>
            <a:r>
              <a:rPr lang="en-US" dirty="0"/>
              <a:t>Help with debugging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23797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7225-1481-7BC4-7FD6-D3ABD9D2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3F10FDD-28AA-057C-A55E-452179D07CD7}"/>
              </a:ext>
            </a:extLst>
          </p:cNvPr>
          <p:cNvGrpSpPr/>
          <p:nvPr/>
        </p:nvGrpSpPr>
        <p:grpSpPr>
          <a:xfrm>
            <a:off x="880982" y="2459865"/>
            <a:ext cx="6504233" cy="4018208"/>
            <a:chOff x="919618" y="704275"/>
            <a:chExt cx="8791051" cy="54309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EE3CDC8-7FB9-65C9-709A-FA05C0087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9618" y="704275"/>
              <a:ext cx="8791051" cy="5430967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0AAE08E-FAD8-34E1-3BCA-FF1D7D45F311}"/>
                </a:ext>
              </a:extLst>
            </p:cNvPr>
            <p:cNvSpPr/>
            <p:nvPr/>
          </p:nvSpPr>
          <p:spPr>
            <a:xfrm>
              <a:off x="5344732" y="708338"/>
              <a:ext cx="605307" cy="60530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B14CAC5-D2E9-B158-17F8-B6D91A6D8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10253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IDEs have tools to help you manage projects. For example path management, “projects” (R and Spyder), etc.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531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2133-2757-F15B-9501-D34A8AA0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3C17B-E6DF-2862-53D4-20C25CA06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Visual Studio Code</a:t>
            </a:r>
          </a:p>
          <a:p>
            <a:pPr lvl="1"/>
            <a:r>
              <a:rPr lang="en-US" dirty="0"/>
              <a:t>Most versatile</a:t>
            </a:r>
          </a:p>
          <a:p>
            <a:pPr lvl="1"/>
            <a:r>
              <a:rPr lang="en-US" dirty="0"/>
              <a:t>Supports many languages</a:t>
            </a:r>
          </a:p>
          <a:p>
            <a:pPr lvl="1"/>
            <a:r>
              <a:rPr lang="en-US" dirty="0"/>
              <a:t>Supports many file formats</a:t>
            </a:r>
          </a:p>
          <a:p>
            <a:pPr lvl="1"/>
            <a:r>
              <a:rPr lang="en-US" dirty="0"/>
              <a:t>Takes a bit of extra time to get used to</a:t>
            </a:r>
          </a:p>
          <a:p>
            <a:r>
              <a:rPr lang="en-US" dirty="0"/>
              <a:t>Jupyter Lab</a:t>
            </a:r>
          </a:p>
          <a:p>
            <a:pPr lvl="1"/>
            <a:r>
              <a:rPr lang="en-US" dirty="0"/>
              <a:t>Ju-</a:t>
            </a:r>
            <a:r>
              <a:rPr lang="en-US" dirty="0" err="1"/>
              <a:t>py</a:t>
            </a:r>
            <a:r>
              <a:rPr lang="en-US" dirty="0"/>
              <a:t>-(</a:t>
            </a:r>
            <a:r>
              <a:rPr lang="en-US" dirty="0" err="1"/>
              <a:t>te</a:t>
            </a:r>
            <a:r>
              <a:rPr lang="en-US" dirty="0"/>
              <a:t>)r: supports Julia, Python, R</a:t>
            </a:r>
          </a:p>
          <a:p>
            <a:r>
              <a:rPr lang="en-US" dirty="0"/>
              <a:t>RStudio</a:t>
            </a:r>
          </a:p>
          <a:p>
            <a:pPr lvl="1"/>
            <a:r>
              <a:rPr lang="en-US" dirty="0"/>
              <a:t>R - Best for R and de-facto.</a:t>
            </a:r>
          </a:p>
          <a:p>
            <a:r>
              <a:rPr lang="en-US" dirty="0"/>
              <a:t>Others:</a:t>
            </a:r>
          </a:p>
          <a:p>
            <a:pPr lvl="1"/>
            <a:r>
              <a:rPr lang="en-US" dirty="0"/>
              <a:t>Spyder – For Python. Similar GUI to RStudio.</a:t>
            </a:r>
          </a:p>
          <a:p>
            <a:pPr lvl="1"/>
            <a:r>
              <a:rPr lang="en-US" dirty="0"/>
              <a:t>Pluto – For Julia. Interactive like Jupyter, but nicer.</a:t>
            </a:r>
          </a:p>
          <a:p>
            <a:pPr lvl="1"/>
            <a:r>
              <a:rPr lang="en-US" dirty="0" err="1"/>
              <a:t>Matlab’s</a:t>
            </a:r>
            <a:r>
              <a:rPr lang="en-US" dirty="0"/>
              <a:t> own.</a:t>
            </a:r>
          </a:p>
        </p:txBody>
      </p:sp>
    </p:spTree>
    <p:extLst>
      <p:ext uri="{BB962C8B-B14F-4D97-AF65-F5344CB8AC3E}">
        <p14:creationId xmlns:p14="http://schemas.microsoft.com/office/powerpoint/2010/main" val="177845355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BB27-B2B1-72A8-E619-F8ED3856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Choose your own adventure – but choose well!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F6A9-BF2C-9317-318D-EA1F84BDE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your language is proprietary (like MATLAB), you don’t have a choice.</a:t>
            </a:r>
          </a:p>
          <a:p>
            <a:r>
              <a:rPr lang="en-US" dirty="0"/>
              <a:t>If you are only working in R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RStudio</a:t>
            </a:r>
          </a:p>
          <a:p>
            <a:r>
              <a:rPr lang="en-US" dirty="0"/>
              <a:t>New-</a:t>
            </a:r>
            <a:r>
              <a:rPr lang="en-US" dirty="0" err="1"/>
              <a:t>ish</a:t>
            </a:r>
            <a:r>
              <a:rPr lang="en-US" dirty="0"/>
              <a:t> to python:</a:t>
            </a:r>
          </a:p>
          <a:p>
            <a:pPr lvl="1"/>
            <a:r>
              <a:rPr lang="en-US" dirty="0"/>
              <a:t>Spyder if using </a:t>
            </a:r>
            <a:r>
              <a:rPr lang="en-US" i="1" dirty="0"/>
              <a:t>.</a:t>
            </a:r>
            <a:r>
              <a:rPr lang="en-US" i="1" dirty="0" err="1"/>
              <a:t>py</a:t>
            </a:r>
            <a:r>
              <a:rPr lang="en-US" i="1" dirty="0"/>
              <a:t> </a:t>
            </a:r>
            <a:r>
              <a:rPr lang="en-US" dirty="0"/>
              <a:t>scripts, want to explore variables, variable structure, easily peak into class methods and properties, etc. Spyder “projects”</a:t>
            </a:r>
          </a:p>
          <a:p>
            <a:pPr lvl="1"/>
            <a:r>
              <a:rPr lang="en-US" dirty="0"/>
              <a:t>Jupyter if using </a:t>
            </a:r>
            <a:r>
              <a:rPr lang="en-US" i="1" dirty="0"/>
              <a:t>.</a:t>
            </a:r>
            <a:r>
              <a:rPr lang="en-US" i="1" dirty="0" err="1"/>
              <a:t>ipynb</a:t>
            </a:r>
            <a:r>
              <a:rPr lang="en-US" i="1" dirty="0"/>
              <a:t> </a:t>
            </a:r>
            <a:r>
              <a:rPr lang="en-US" dirty="0"/>
              <a:t>notebooks, are doing exploration, or following/preparing educational materials.</a:t>
            </a:r>
          </a:p>
          <a:p>
            <a:r>
              <a:rPr lang="en-US" dirty="0"/>
              <a:t>More experienced, multi-language, and a bit of patience:</a:t>
            </a:r>
          </a:p>
          <a:p>
            <a:pPr lvl="1"/>
            <a:r>
              <a:rPr lang="en-US" dirty="0"/>
              <a:t>Visual Studio Code.</a:t>
            </a:r>
          </a:p>
          <a:p>
            <a:pPr lvl="1"/>
            <a:r>
              <a:rPr lang="en-US" dirty="0"/>
              <a:t>I’m a convert to VS Code. It is fast, helps you easily create auxiliary files of all types, supports many languages, etc.</a:t>
            </a:r>
          </a:p>
        </p:txBody>
      </p:sp>
    </p:spTree>
    <p:extLst>
      <p:ext uri="{BB962C8B-B14F-4D97-AF65-F5344CB8AC3E}">
        <p14:creationId xmlns:p14="http://schemas.microsoft.com/office/powerpoint/2010/main" val="1418992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FEC2-EEC8-CAC9-88AD-1B1C15E1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Aside note on Jupyter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B6176-1BF1-67C6-8EFD-FA7811697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Jupyter notebooks are popular because of their pedagogical value: it is easy to present step by step procedures.</a:t>
            </a:r>
          </a:p>
          <a:p>
            <a:r>
              <a:rPr lang="en-US"/>
              <a:t>If you use them, use them for pedagogical reasons or for exploration and experimentation.</a:t>
            </a:r>
          </a:p>
          <a:p>
            <a:pPr lvl="1"/>
            <a:r>
              <a:rPr lang="en-US"/>
              <a:t>Make sure you add a folder akin to “exploration notebooks” to your directory tree!</a:t>
            </a:r>
          </a:p>
          <a:p>
            <a:r>
              <a:rPr lang="en-US"/>
              <a:t>But, you should aim to have full </a:t>
            </a:r>
            <a:r>
              <a:rPr lang="en-US" i="1"/>
              <a:t>.</a:t>
            </a:r>
            <a:r>
              <a:rPr lang="en-US" i="1" err="1"/>
              <a:t>py</a:t>
            </a:r>
            <a:r>
              <a:rPr lang="en-US"/>
              <a:t> scripts as your final result.</a:t>
            </a:r>
          </a:p>
          <a:p>
            <a:pPr lvl="1"/>
            <a:r>
              <a:rPr lang="en-US"/>
              <a:t>Containment.</a:t>
            </a:r>
          </a:p>
          <a:p>
            <a:pPr lvl="1"/>
            <a:r>
              <a:rPr lang="en-US"/>
              <a:t>Consistency</a:t>
            </a:r>
          </a:p>
          <a:p>
            <a:pPr lvl="1"/>
            <a:r>
              <a:rPr lang="en-US"/>
              <a:t>Reproducibility.</a:t>
            </a:r>
          </a:p>
          <a:p>
            <a:pPr lvl="1"/>
            <a:r>
              <a:rPr lang="en-US"/>
              <a:t>Automation.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8307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D9AC2-22F5-76A7-7191-D2B29E6E2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5B2DA516-A8BE-483E-C196-337992075066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4B636C2-C8F5-E29F-042B-B17AA6F8B646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75CE0711-EC33-8A05-CC55-39FC92E8BF15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84DBCA7E-8809-FDA6-1CD9-3EA63CF2313C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2B711E-9D2D-F26A-02E2-20CD7E008D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Environments</a:t>
            </a:r>
          </a:p>
        </p:txBody>
      </p:sp>
    </p:spTree>
    <p:extLst>
      <p:ext uri="{BB962C8B-B14F-4D97-AF65-F5344CB8AC3E}">
        <p14:creationId xmlns:p14="http://schemas.microsoft.com/office/powerpoint/2010/main" val="92656176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A4EB-1D9F-5C38-EB04-290C161A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7484-9DC3-E3A8-677D-5F525315B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environment is an isolated space, generally self-contained, containing dependencies necessary to run a project.</a:t>
            </a:r>
          </a:p>
          <a:p>
            <a:r>
              <a:rPr lang="en-US"/>
              <a:t>Dependencies include libraries, packages, and modules.</a:t>
            </a:r>
          </a:p>
          <a:p>
            <a:pPr lvl="1"/>
            <a:r>
              <a:rPr lang="en-US"/>
              <a:t>These are just pre-written pieces of code</a:t>
            </a:r>
          </a:p>
          <a:p>
            <a:r>
              <a:rPr lang="en-US"/>
              <a:t>Environments contain specific versions of the project’s dependencies.</a:t>
            </a:r>
          </a:p>
          <a:p>
            <a:r>
              <a:rPr lang="en-US"/>
              <a:t>They avoid conflict among different dependencies and their versions.</a:t>
            </a:r>
          </a:p>
        </p:txBody>
      </p:sp>
    </p:spTree>
    <p:extLst>
      <p:ext uri="{BB962C8B-B14F-4D97-AF65-F5344CB8AC3E}">
        <p14:creationId xmlns:p14="http://schemas.microsoft.com/office/powerpoint/2010/main" val="30706298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F20E9-EF94-BC1F-2AC8-E1E7D125D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Dependency 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BE47E-DE1E-CAD2-4278-A29D92838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1"/>
            <a:ext cx="10515600" cy="2667876"/>
          </a:xfrm>
        </p:spPr>
        <p:txBody>
          <a:bodyPr/>
          <a:lstStyle/>
          <a:p>
            <a:r>
              <a:rPr lang="en-US"/>
              <a:t>You can’t build everything from scratch. You will inevitably depend on libraries built by others.</a:t>
            </a:r>
          </a:p>
          <a:p>
            <a:r>
              <a:rPr lang="en-US"/>
              <a:t>These are built mostly independently, so they can conflict with each other.</a:t>
            </a:r>
          </a:p>
          <a:p>
            <a:r>
              <a:rPr lang="en-US"/>
              <a:t>When dependencies are in conflict with each other, your project may encounter unexpected errors and become impossible to run.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DDC6D9-6676-D7C1-70E2-128A67C49A6F}"/>
              </a:ext>
            </a:extLst>
          </p:cNvPr>
          <p:cNvSpPr/>
          <p:nvPr/>
        </p:nvSpPr>
        <p:spPr>
          <a:xfrm>
            <a:off x="2036378" y="4548351"/>
            <a:ext cx="1849822" cy="55704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X package (v1)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11DA4F-D845-E174-A7A7-F806B9281D8A}"/>
              </a:ext>
            </a:extLst>
          </p:cNvPr>
          <p:cNvSpPr/>
          <p:nvPr/>
        </p:nvSpPr>
        <p:spPr>
          <a:xfrm>
            <a:off x="2036378" y="5483772"/>
            <a:ext cx="1849822" cy="55704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X package (v2)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90B6A1-5E35-3A22-E442-D2D9E5F073E7}"/>
              </a:ext>
            </a:extLst>
          </p:cNvPr>
          <p:cNvSpPr/>
          <p:nvPr/>
        </p:nvSpPr>
        <p:spPr>
          <a:xfrm>
            <a:off x="5437318" y="4551271"/>
            <a:ext cx="1849822" cy="55704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Y package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3F2F51-0199-0F03-1C97-67A014FB7C20}"/>
              </a:ext>
            </a:extLst>
          </p:cNvPr>
          <p:cNvSpPr/>
          <p:nvPr/>
        </p:nvSpPr>
        <p:spPr>
          <a:xfrm>
            <a:off x="5437318" y="5478882"/>
            <a:ext cx="1849822" cy="55704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Z package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8B6B3D-50A5-5D00-7024-14CD5D775CB5}"/>
              </a:ext>
            </a:extLst>
          </p:cNvPr>
          <p:cNvSpPr/>
          <p:nvPr/>
        </p:nvSpPr>
        <p:spPr>
          <a:xfrm>
            <a:off x="8618483" y="5013437"/>
            <a:ext cx="1849822" cy="55704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Your Project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49F0C12D-5614-105A-A1FB-C997E50937A8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886200" y="4826875"/>
            <a:ext cx="1551118" cy="292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AAAD7099-D0FA-FED8-4B4D-F45C3F7158D9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3886200" y="5757406"/>
            <a:ext cx="1551118" cy="489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C56E0F7B-F26B-DED0-8AD6-8E97B8483E07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287140" y="4829795"/>
            <a:ext cx="1331343" cy="46216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10A2020-A958-22CB-3915-88ECA6EFD3CA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7287140" y="5291961"/>
            <a:ext cx="1331343" cy="46544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1A2BD4-85C4-2E0C-9C26-1D249E39DE37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886200" y="4829795"/>
            <a:ext cx="1551118" cy="932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ultiply 22">
            <a:extLst>
              <a:ext uri="{FF2B5EF4-FFF2-40B4-BE49-F238E27FC236}">
                <a16:creationId xmlns:a16="http://schemas.microsoft.com/office/drawing/2014/main" id="{91B038BD-AE92-82B5-ED28-ED79ABA29176}"/>
              </a:ext>
            </a:extLst>
          </p:cNvPr>
          <p:cNvSpPr/>
          <p:nvPr/>
        </p:nvSpPr>
        <p:spPr>
          <a:xfrm>
            <a:off x="4245998" y="4953662"/>
            <a:ext cx="707668" cy="707668"/>
          </a:xfrm>
          <a:prstGeom prst="mathMultiply">
            <a:avLst>
              <a:gd name="adj1" fmla="val 12520"/>
            </a:avLst>
          </a:prstGeom>
          <a:solidFill>
            <a:srgbClr val="FF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621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1887-918E-4A65-275F-47B7D299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proprietary paradise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898E3-F23E-2C2B-09F2-1572B3A38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If you are a MATLAB user (or use another proprietary language) you may not be used to this concept, since most packages are designed by the company and kept consistent to avoid these conflicts.</a:t>
            </a:r>
          </a:p>
        </p:txBody>
      </p:sp>
    </p:spTree>
    <p:extLst>
      <p:ext uri="{BB962C8B-B14F-4D97-AF65-F5344CB8AC3E}">
        <p14:creationId xmlns:p14="http://schemas.microsoft.com/office/powerpoint/2010/main" val="14311798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AB1E-89F5-1D68-AA9B-9C6ADBAC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Environments and package managers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004E0-695B-D09F-9BF4-B0EEF697F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language will have a tool to create environments, as well as to manage packages within an environment.</a:t>
            </a:r>
          </a:p>
          <a:p>
            <a:r>
              <a:rPr lang="en-US"/>
              <a:t>These packages are often downloaded from a repository.</a:t>
            </a:r>
          </a:p>
          <a:p>
            <a:r>
              <a:rPr lang="en-US"/>
              <a:t>Packages, repositories, and managers have varying degrees of security and security checks, so be careful when installing.</a:t>
            </a:r>
          </a:p>
        </p:txBody>
      </p:sp>
    </p:spTree>
    <p:extLst>
      <p:ext uri="{BB962C8B-B14F-4D97-AF65-F5344CB8AC3E}">
        <p14:creationId xmlns:p14="http://schemas.microsoft.com/office/powerpoint/2010/main" val="143470332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088C-EB78-A462-401C-5B30B05B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cheat sheet*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375FDC-DD33-24BC-624E-E9914C07B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5484"/>
              </p:ext>
            </p:extLst>
          </p:nvPr>
        </p:nvGraphicFramePr>
        <p:xfrm>
          <a:off x="365760" y="1748366"/>
          <a:ext cx="11510010" cy="4252031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497330">
                  <a:extLst>
                    <a:ext uri="{9D8B030D-6E8A-4147-A177-3AD203B41FA5}">
                      <a16:colId xmlns:a16="http://schemas.microsoft.com/office/drawing/2014/main" val="2786912213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3859286273"/>
                    </a:ext>
                  </a:extLst>
                </a:gridCol>
                <a:gridCol w="1918335">
                  <a:extLst>
                    <a:ext uri="{9D8B030D-6E8A-4147-A177-3AD203B41FA5}">
                      <a16:colId xmlns:a16="http://schemas.microsoft.com/office/drawing/2014/main" val="966943402"/>
                    </a:ext>
                  </a:extLst>
                </a:gridCol>
                <a:gridCol w="1918335">
                  <a:extLst>
                    <a:ext uri="{9D8B030D-6E8A-4147-A177-3AD203B41FA5}">
                      <a16:colId xmlns:a16="http://schemas.microsoft.com/office/drawing/2014/main" val="4010681715"/>
                    </a:ext>
                  </a:extLst>
                </a:gridCol>
                <a:gridCol w="1918335">
                  <a:extLst>
                    <a:ext uri="{9D8B030D-6E8A-4147-A177-3AD203B41FA5}">
                      <a16:colId xmlns:a16="http://schemas.microsoft.com/office/drawing/2014/main" val="1435112520"/>
                    </a:ext>
                  </a:extLst>
                </a:gridCol>
                <a:gridCol w="1918335">
                  <a:extLst>
                    <a:ext uri="{9D8B030D-6E8A-4147-A177-3AD203B41FA5}">
                      <a16:colId xmlns:a16="http://schemas.microsoft.com/office/drawing/2014/main" val="2810210574"/>
                    </a:ext>
                  </a:extLst>
                </a:gridCol>
              </a:tblGrid>
              <a:tr h="55359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Language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Terminology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Environment Creation Tool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Package Repository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Package Manager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Requirements Files</a:t>
                      </a:r>
                    </a:p>
                  </a:txBody>
                  <a:tcPr marL="117178" marR="117178" marT="58589" marB="58589"/>
                </a:tc>
                <a:extLst>
                  <a:ext uri="{0D108BD9-81ED-4DB2-BD59-A6C34878D82A}">
                    <a16:rowId xmlns:a16="http://schemas.microsoft.com/office/drawing/2014/main" val="3013659572"/>
                  </a:ext>
                </a:extLst>
              </a:tr>
              <a:tr h="553599">
                <a:tc>
                  <a:txBody>
                    <a:bodyPr/>
                    <a:lstStyle/>
                    <a:p>
                      <a:r>
                        <a:rPr lang="en-US" sz="1400" dirty="0"/>
                        <a:t>Python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Virtual environments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Conda environments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venv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conda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PyPI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Conda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pip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conda, mamba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requirements.txt</a:t>
                      </a: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environment.yaml</a:t>
                      </a:r>
                      <a:endParaRPr lang="en-US" sz="1400" dirty="0"/>
                    </a:p>
                  </a:txBody>
                  <a:tcPr marL="117178" marR="117178" marT="58589" marB="58589"/>
                </a:tc>
                <a:extLst>
                  <a:ext uri="{0D108BD9-81ED-4DB2-BD59-A6C34878D82A}">
                    <a16:rowId xmlns:a16="http://schemas.microsoft.com/office/drawing/2014/main" val="2680992434"/>
                  </a:ext>
                </a:extLst>
              </a:tr>
              <a:tr h="553599">
                <a:tc>
                  <a:txBody>
                    <a:bodyPr/>
                    <a:lstStyle/>
                    <a:p>
                      <a:r>
                        <a:rPr lang="en-US" sz="1400"/>
                        <a:t>R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Project environments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renv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(.</a:t>
                      </a:r>
                      <a:r>
                        <a:rPr lang="en-US" sz="1400" err="1"/>
                        <a:t>RProj</a:t>
                      </a:r>
                      <a:r>
                        <a:rPr lang="en-US" sz="1400"/>
                        <a:t>)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CRAN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renv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install.packages</a:t>
                      </a:r>
                      <a:r>
                        <a:rPr lang="en-US" sz="1400"/>
                        <a:t>()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renv.lock</a:t>
                      </a:r>
                      <a:endParaRPr lang="en-US" sz="1400"/>
                    </a:p>
                  </a:txBody>
                  <a:tcPr marL="117178" marR="117178" marT="58589" marB="58589"/>
                </a:tc>
                <a:extLst>
                  <a:ext uri="{0D108BD9-81ED-4DB2-BD59-A6C34878D82A}">
                    <a16:rowId xmlns:a16="http://schemas.microsoft.com/office/drawing/2014/main" val="444270532"/>
                  </a:ext>
                </a:extLst>
              </a:tr>
              <a:tr h="553599">
                <a:tc>
                  <a:txBody>
                    <a:bodyPr/>
                    <a:lstStyle/>
                    <a:p>
                      <a:r>
                        <a:rPr lang="en-US" sz="1400"/>
                        <a:t>JavaScript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node_modules</a:t>
                      </a:r>
                      <a:endParaRPr lang="en-US" sz="1400"/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npm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yarn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npm</a:t>
                      </a:r>
                      <a:r>
                        <a:rPr lang="en-US" sz="1400"/>
                        <a:t> registry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npm</a:t>
                      </a: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yarn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node_modules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.</a:t>
                      </a:r>
                      <a:r>
                        <a:rPr lang="en-US" sz="1400" err="1"/>
                        <a:t>pnp.cjs</a:t>
                      </a:r>
                      <a:endParaRPr lang="en-US" sz="1400"/>
                    </a:p>
                  </a:txBody>
                  <a:tcPr marL="117178" marR="117178" marT="58589" marB="58589"/>
                </a:tc>
                <a:extLst>
                  <a:ext uri="{0D108BD9-81ED-4DB2-BD59-A6C34878D82A}">
                    <a16:rowId xmlns:a16="http://schemas.microsoft.com/office/drawing/2014/main" val="788085364"/>
                  </a:ext>
                </a:extLst>
              </a:tr>
              <a:tr h="553599">
                <a:tc>
                  <a:txBody>
                    <a:bodyPr/>
                    <a:lstStyle/>
                    <a:p>
                      <a:r>
                        <a:rPr lang="en-US" sz="1400"/>
                        <a:t>Julia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Project environments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Pkg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Julia general registry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Pkg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Project.toml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Manifest.toml</a:t>
                      </a:r>
                      <a:endParaRPr lang="en-US" sz="1400"/>
                    </a:p>
                  </a:txBody>
                  <a:tcPr marL="117178" marR="117178" marT="58589" marB="58589"/>
                </a:tc>
                <a:extLst>
                  <a:ext uri="{0D108BD9-81ED-4DB2-BD59-A6C34878D82A}">
                    <a16:rowId xmlns:a16="http://schemas.microsoft.com/office/drawing/2014/main" val="2780515341"/>
                  </a:ext>
                </a:extLst>
              </a:tr>
              <a:tr h="553599">
                <a:tc>
                  <a:txBody>
                    <a:bodyPr/>
                    <a:lstStyle/>
                    <a:p>
                      <a:r>
                        <a:rPr lang="en-US" sz="1400"/>
                        <a:t>Rust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Cargo projects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cargo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crates.io</a:t>
                      </a:r>
                      <a:endParaRPr lang="en-US" sz="1400"/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cargo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Cargo.toml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err="1"/>
                        <a:t>Cargo.lock</a:t>
                      </a:r>
                      <a:endParaRPr lang="en-US" sz="1400"/>
                    </a:p>
                  </a:txBody>
                  <a:tcPr marL="117178" marR="117178" marT="58589" marB="58589"/>
                </a:tc>
                <a:extLst>
                  <a:ext uri="{0D108BD9-81ED-4DB2-BD59-A6C34878D82A}">
                    <a16:rowId xmlns:a16="http://schemas.microsoft.com/office/drawing/2014/main" val="2903280633"/>
                  </a:ext>
                </a:extLst>
              </a:tr>
              <a:tr h="553599">
                <a:tc>
                  <a:txBody>
                    <a:bodyPr/>
                    <a:lstStyle/>
                    <a:p>
                      <a:r>
                        <a:rPr lang="en-US" sz="1400"/>
                        <a:t>MATLAB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N/A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Path management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Add-on manager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MATLAB central file exchange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Add-on Manager</a:t>
                      </a:r>
                    </a:p>
                  </a:txBody>
                  <a:tcPr marL="117178" marR="117178" marT="58589" marB="5858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N/A</a:t>
                      </a:r>
                    </a:p>
                  </a:txBody>
                  <a:tcPr marL="117178" marR="117178" marT="58589" marB="58589"/>
                </a:tc>
                <a:extLst>
                  <a:ext uri="{0D108BD9-81ED-4DB2-BD59-A6C34878D82A}">
                    <a16:rowId xmlns:a16="http://schemas.microsoft.com/office/drawing/2014/main" val="3576433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B2D167F-C684-F30C-FD26-1A1089B95C8B}"/>
              </a:ext>
            </a:extLst>
          </p:cNvPr>
          <p:cNvSpPr txBox="1"/>
          <p:nvPr/>
        </p:nvSpPr>
        <p:spPr>
          <a:xfrm>
            <a:off x="3629025" y="6309360"/>
            <a:ext cx="850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 I’d love to improve on this cheat sheet, if you have suggestions let me know! -efrén</a:t>
            </a:r>
          </a:p>
        </p:txBody>
      </p:sp>
    </p:spTree>
    <p:extLst>
      <p:ext uri="{BB962C8B-B14F-4D97-AF65-F5344CB8AC3E}">
        <p14:creationId xmlns:p14="http://schemas.microsoft.com/office/powerpoint/2010/main" val="5246329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3439-40B5-05D6-7920-E66E348C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6B45F-C60C-2FF5-78EA-D7FFAD175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not be afraid of creating environments!</a:t>
            </a:r>
          </a:p>
          <a:p>
            <a:r>
              <a:rPr lang="en-US" dirty="0"/>
              <a:t>I like to create one per project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Approaches</a:t>
            </a:r>
          </a:p>
          <a:p>
            <a:r>
              <a:rPr lang="en-US" dirty="0"/>
              <a:t>One environment you can use from anywhere</a:t>
            </a:r>
          </a:p>
          <a:p>
            <a:pPr lvl="1"/>
            <a:r>
              <a:rPr lang="en-US" dirty="0"/>
              <a:t>conda, mamba, etc.</a:t>
            </a:r>
          </a:p>
          <a:p>
            <a:r>
              <a:rPr lang="en-US" dirty="0"/>
              <a:t>One environment per project</a:t>
            </a:r>
          </a:p>
          <a:p>
            <a:pPr lvl="1"/>
            <a:r>
              <a:rPr lang="en-US" dirty="0" err="1"/>
              <a:t>uv</a:t>
            </a:r>
            <a:r>
              <a:rPr lang="en-US" dirty="0"/>
              <a:t>, </a:t>
            </a:r>
            <a:r>
              <a:rPr lang="en-US" dirty="0" err="1"/>
              <a:t>renv</a:t>
            </a:r>
            <a:r>
              <a:rPr lang="en-US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41415174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DDE0-AE2C-4BCE-90D9-1B10447B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Example - Conda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5F514F-F41B-F4F2-DF74-200AC9886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93" y="1640356"/>
            <a:ext cx="6781532" cy="421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919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0B6C-3DD5-70F1-A75E-824A3896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 -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renv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29987E-D9DD-BCDB-4DEE-DC3F0A5C8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22" y="1499314"/>
            <a:ext cx="5256190" cy="448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023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C916C-13C9-C6E3-BBAC-55C2710D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E02AB-089F-D04B-787F-E27413BE1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While we’re mentioning environments at the end...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should set yours up early on! Even before writing any script.</a:t>
            </a:r>
          </a:p>
        </p:txBody>
      </p:sp>
    </p:spTree>
    <p:extLst>
      <p:ext uri="{BB962C8B-B14F-4D97-AF65-F5344CB8AC3E}">
        <p14:creationId xmlns:p14="http://schemas.microsoft.com/office/powerpoint/2010/main" val="393542659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539D-7669-0623-9F0A-6260E862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7FBD9-AFB0-F282-F005-9455F0092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Reproducibility</a:t>
            </a:r>
          </a:p>
          <a:p>
            <a:r>
              <a:rPr lang="en-US"/>
              <a:t>Consistency</a:t>
            </a:r>
          </a:p>
          <a:p>
            <a:r>
              <a:rPr lang="en-US"/>
              <a:t>Collaboration</a:t>
            </a:r>
          </a:p>
        </p:txBody>
      </p:sp>
    </p:spTree>
    <p:extLst>
      <p:ext uri="{BB962C8B-B14F-4D97-AF65-F5344CB8AC3E}">
        <p14:creationId xmlns:p14="http://schemas.microsoft.com/office/powerpoint/2010/main" val="177366172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7DFEC-7980-0E15-BFDA-5F182917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A1DB447-02AD-2565-4C98-F699866EBF07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2C0A4774-34F1-AB76-2038-BF2CF4615D01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FA073433-0906-E571-CD7F-26B845CCE2EA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2586E64-6255-A874-10CE-1C7EAC64695D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B4CB36-C4F4-FF44-725C-DD0E735D8D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Final Exercise</a:t>
            </a:r>
          </a:p>
        </p:txBody>
      </p:sp>
    </p:spTree>
    <p:extLst>
      <p:ext uri="{BB962C8B-B14F-4D97-AF65-F5344CB8AC3E}">
        <p14:creationId xmlns:p14="http://schemas.microsoft.com/office/powerpoint/2010/main" val="144436284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9450-4FC2-BFF5-AB26-EA0F34F91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B4C9-2722-B870-A825-7E3511DE1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Take a few minutes to study the structure of one of your current projects.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Write some notes on how you would like to re-organize it based on what we learned today</a:t>
            </a:r>
          </a:p>
          <a:p>
            <a:r>
              <a:rPr lang="en-US" dirty="0"/>
              <a:t>DO NOT MAKE CHANGES</a:t>
            </a:r>
          </a:p>
          <a:p>
            <a:r>
              <a:rPr lang="en-US" dirty="0"/>
              <a:t>Talk to </a:t>
            </a:r>
            <a:r>
              <a:rPr lang="en-US" b="1" dirty="0"/>
              <a:t>your neighbor</a:t>
            </a:r>
            <a:r>
              <a:rPr lang="en-US" dirty="0"/>
              <a:t> about it (as long as it’s not a secret project).</a:t>
            </a:r>
          </a:p>
        </p:txBody>
      </p:sp>
    </p:spTree>
    <p:extLst>
      <p:ext uri="{BB962C8B-B14F-4D97-AF65-F5344CB8AC3E}">
        <p14:creationId xmlns:p14="http://schemas.microsoft.com/office/powerpoint/2010/main" val="4788595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5E24C-0A61-2A75-D985-7119E808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Chaos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E4F39-DB6D-A740-A44B-CBE3EF8CF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Go to the Chaos folder, reorganize it and rename files based on the principles we learned today.</a:t>
            </a:r>
          </a:p>
          <a:p>
            <a:r>
              <a:rPr lang="en-US"/>
              <a:t>All files in this example folder pertain to the same project.</a:t>
            </a:r>
          </a:p>
          <a:p>
            <a:r>
              <a:rPr lang="en-US"/>
              <a:t>The mock files are empty, they are there just for practice.</a:t>
            </a:r>
          </a:p>
          <a:p>
            <a:r>
              <a:rPr lang="en-US"/>
              <a:t>If there are folders or files that you think must be added, feel free to do so!</a:t>
            </a:r>
          </a:p>
        </p:txBody>
      </p:sp>
    </p:spTree>
    <p:extLst>
      <p:ext uri="{BB962C8B-B14F-4D97-AF65-F5344CB8AC3E}">
        <p14:creationId xmlns:p14="http://schemas.microsoft.com/office/powerpoint/2010/main" val="39125629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E9688-19BC-34E4-A532-067AB904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D3942794-5E05-291B-8543-4A8ACE2D57E2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46227CF2-B3B4-9012-17BA-5F01C0EAFE97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BEDA763-0CD2-FA7A-251F-8A1AD9BEB56C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69DDE58-8D8E-A11A-45F8-FF1B2ADD2736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42C00-7032-1204-CA48-F326F0A9CFF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20893550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21A7-6F62-0ACE-CCBA-0385ECD9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8441D-F497-FE3D-5C50-C8047199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Day 1-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F0102-8871-FF66-C953-5E94BCCC9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4" y="992420"/>
            <a:ext cx="8349616" cy="566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4083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3D64-5957-BEA5-B5E3-AFEF8177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52081-B4F4-4A18-AC41-ABE88E393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Draft the structure of your project</a:t>
            </a:r>
          </a:p>
          <a:p>
            <a:r>
              <a:rPr lang="en-US" dirty="0"/>
              <a:t>Create the initial directories</a:t>
            </a:r>
          </a:p>
          <a:p>
            <a:r>
              <a:rPr lang="en-US" dirty="0"/>
              <a:t>Setup version control (git, GitHub)</a:t>
            </a:r>
          </a:p>
          <a:p>
            <a:r>
              <a:rPr lang="en-US" dirty="0"/>
              <a:t>Setup an environment (</a:t>
            </a:r>
            <a:r>
              <a:rPr lang="en-US" dirty="0" err="1"/>
              <a:t>renv</a:t>
            </a:r>
            <a:r>
              <a:rPr lang="en-US" dirty="0"/>
              <a:t>, conda, etc.)</a:t>
            </a:r>
          </a:p>
          <a:p>
            <a:r>
              <a:rPr lang="en-US" dirty="0"/>
              <a:t>Setup a README file</a:t>
            </a:r>
          </a:p>
          <a:p>
            <a:r>
              <a:rPr lang="en-US" dirty="0"/>
              <a:t>Create and update configuration files in tandem to your coding</a:t>
            </a:r>
          </a:p>
          <a:p>
            <a:r>
              <a:rPr lang="en-US" dirty="0"/>
              <a:t>Start coding!</a:t>
            </a:r>
          </a:p>
        </p:txBody>
      </p:sp>
    </p:spTree>
    <p:extLst>
      <p:ext uri="{BB962C8B-B14F-4D97-AF65-F5344CB8AC3E}">
        <p14:creationId xmlns:p14="http://schemas.microsoft.com/office/powerpoint/2010/main" val="61631472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4952-46DF-B388-2A57-28E6DBCC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6004A9F-A3A1-91D7-51DF-0F9667F49901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1FC1A02-775F-925B-8D65-685BEF7791D1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795A95C7-6952-1BD3-DDC2-7489DC24D4C6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D9E26B57-49C3-8597-9B3E-369EA7050E69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2F83FF-5DEA-7940-D90F-0D761953DA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4439812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CE8F-8CB9-B601-E23C-589F4127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68873-162D-7C61-1ABC-ADC0BBB92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cool post on file structure:</a:t>
            </a:r>
          </a:p>
          <a:p>
            <a:r>
              <a:rPr lang="en-US" dirty="0">
                <a:hlinkClick r:id="rId2"/>
              </a:rPr>
              <a:t>https://mitcommlab.mit.edu/broad/commkit/file-structure/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workshop by our very own data management team:</a:t>
            </a:r>
          </a:p>
          <a:p>
            <a:r>
              <a:rPr lang="en-US" dirty="0" err="1"/>
              <a:t>Tobin_Magle_Data_Management_Slides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Related workshops by our data science team:</a:t>
            </a:r>
          </a:p>
          <a:p>
            <a:r>
              <a:rPr lang="en-US" dirty="0">
                <a:hlinkClick r:id="rId3"/>
              </a:rPr>
              <a:t>The command line</a:t>
            </a:r>
            <a:endParaRPr lang="en-US" dirty="0"/>
          </a:p>
          <a:p>
            <a:r>
              <a:rPr lang="en-US" dirty="0">
                <a:hlinkClick r:id="rId4"/>
              </a:rPr>
              <a:t>Conda environments</a:t>
            </a:r>
            <a:endParaRPr lang="en-US" dirty="0"/>
          </a:p>
          <a:p>
            <a:r>
              <a:rPr lang="en-US" dirty="0">
                <a:hlinkClick r:id="rId5"/>
              </a:rPr>
              <a:t>Git and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93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13918</TotalTime>
  <Words>4125</Words>
  <Application>Microsoft Macintosh PowerPoint</Application>
  <PresentationFormat>Widescreen</PresentationFormat>
  <Paragraphs>633</Paragraphs>
  <Slides>107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4" baseType="lpstr">
      <vt:lpstr>Andale Mono</vt:lpstr>
      <vt:lpstr>Aptos</vt:lpstr>
      <vt:lpstr>Aptos Display</vt:lpstr>
      <vt:lpstr>Arial</vt:lpstr>
      <vt:lpstr>Courier New</vt:lpstr>
      <vt:lpstr>Wingdings</vt:lpstr>
      <vt:lpstr>Office Theme</vt:lpstr>
      <vt:lpstr>The Researcher’s Guide to Code Organization</vt:lpstr>
      <vt:lpstr>This workshop is brought to you by:</vt:lpstr>
      <vt:lpstr>Logistics</vt:lpstr>
      <vt:lpstr>What to expect</vt:lpstr>
      <vt:lpstr>Overview</vt:lpstr>
      <vt:lpstr>PowerPoint Presentation</vt:lpstr>
      <vt:lpstr>Does this sound familiar?</vt:lpstr>
      <vt:lpstr>Motivation</vt:lpstr>
      <vt:lpstr>Day 1- Overview</vt:lpstr>
      <vt:lpstr>PowerPoint Presentation</vt:lpstr>
      <vt:lpstr>PowerPoint Presentation</vt:lpstr>
      <vt:lpstr>PowerPoint Presentation</vt:lpstr>
      <vt:lpstr>General Principles</vt:lpstr>
      <vt:lpstr>General Principles</vt:lpstr>
      <vt:lpstr>Quick Survey</vt:lpstr>
      <vt:lpstr>PowerPoint Presentation</vt:lpstr>
      <vt:lpstr>Identify your project structure</vt:lpstr>
      <vt:lpstr>A simple project taxonomy*</vt:lpstr>
      <vt:lpstr>Examples</vt:lpstr>
      <vt:lpstr>Exercise</vt:lpstr>
      <vt:lpstr>PowerPoint Presentation</vt:lpstr>
      <vt:lpstr>Question</vt:lpstr>
      <vt:lpstr>Keep the project contained</vt:lpstr>
      <vt:lpstr>Bad!</vt:lpstr>
      <vt:lpstr>Bad IDEs!</vt:lpstr>
      <vt:lpstr>Remember</vt:lpstr>
      <vt:lpstr>Separation of Concerns</vt:lpstr>
      <vt:lpstr>Good! Common organization paradigm</vt:lpstr>
      <vt:lpstr>Example</vt:lpstr>
      <vt:lpstr>No size fits all</vt:lpstr>
      <vt:lpstr>Tree structures</vt:lpstr>
      <vt:lpstr>Exercise</vt:lpstr>
      <vt:lpstr>Note on literature</vt:lpstr>
      <vt:lpstr>General Principles</vt:lpstr>
      <vt:lpstr>PowerPoint Presentation</vt:lpstr>
      <vt:lpstr>The current working directory</vt:lpstr>
      <vt:lpstr>Absolute vs relative paths</vt:lpstr>
      <vt:lpstr>Where’s your Desktop?</vt:lpstr>
      <vt:lpstr>Project’s Root</vt:lpstr>
      <vt:lpstr>Use relative paths!</vt:lpstr>
      <vt:lpstr>Path Standardization</vt:lpstr>
      <vt:lpstr>Example</vt:lpstr>
      <vt:lpstr>General Principles</vt:lpstr>
      <vt:lpstr>Exercise</vt:lpstr>
      <vt:lpstr>PowerPoint Presentation</vt:lpstr>
      <vt:lpstr>PowerPoint Presentation</vt:lpstr>
      <vt:lpstr>Conventions</vt:lpstr>
      <vt:lpstr>Conventions – versioning</vt:lpstr>
      <vt:lpstr>Conventions - dating</vt:lpstr>
      <vt:lpstr>Conventions – casing for legibility</vt:lpstr>
      <vt:lpstr>A Note on Data, Dates, and Names</vt:lpstr>
      <vt:lpstr>General Principles</vt:lpstr>
      <vt:lpstr>PowerPoint Presentation</vt:lpstr>
      <vt:lpstr>Where to document</vt:lpstr>
      <vt:lpstr>README file</vt:lpstr>
      <vt:lpstr>Example</vt:lpstr>
      <vt:lpstr>General Principles</vt:lpstr>
      <vt:lpstr>txt vs md</vt:lpstr>
      <vt:lpstr>PowerPoint Presentation</vt:lpstr>
      <vt:lpstr>What should README be?</vt:lpstr>
      <vt:lpstr>Different data types</vt:lpstr>
      <vt:lpstr>Data: language specific vs agnostic</vt:lpstr>
      <vt:lpstr>Auxiliary files</vt:lpstr>
      <vt:lpstr>Example</vt:lpstr>
      <vt:lpstr>Common Project files</vt:lpstr>
      <vt:lpstr>Seeing hidden files</vt:lpstr>
      <vt:lpstr>Creating files</vt:lpstr>
      <vt:lpstr>Exercise</vt:lpstr>
      <vt:lpstr>General Principles</vt:lpstr>
      <vt:lpstr>PowerPoint Presentation</vt:lpstr>
      <vt:lpstr>The command line interface (CLI)</vt:lpstr>
      <vt:lpstr>Analogy</vt:lpstr>
      <vt:lpstr>Who’s afraid of the CLI?</vt:lpstr>
      <vt:lpstr>Example</vt:lpstr>
      <vt:lpstr>Exercise</vt:lpstr>
      <vt:lpstr>PowerPoint Presentation</vt:lpstr>
      <vt:lpstr>What and why?</vt:lpstr>
      <vt:lpstr>Example</vt:lpstr>
      <vt:lpstr>Git</vt:lpstr>
      <vt:lpstr>GitHub</vt:lpstr>
      <vt:lpstr>.gitignore</vt:lpstr>
      <vt:lpstr>General Principles</vt:lpstr>
      <vt:lpstr>PowerPoint Presentation</vt:lpstr>
      <vt:lpstr>IDEs</vt:lpstr>
      <vt:lpstr>IDEs</vt:lpstr>
      <vt:lpstr>Examples</vt:lpstr>
      <vt:lpstr>Choose your own adventure – but choose well!</vt:lpstr>
      <vt:lpstr>Aside note on Jupyter notebooks</vt:lpstr>
      <vt:lpstr>PowerPoint Presentation</vt:lpstr>
      <vt:lpstr>Environments</vt:lpstr>
      <vt:lpstr>Dependency hell</vt:lpstr>
      <vt:lpstr>The proprietary paradise</vt:lpstr>
      <vt:lpstr>Environments and package managers</vt:lpstr>
      <vt:lpstr>Environment cheat sheet*</vt:lpstr>
      <vt:lpstr>Environments</vt:lpstr>
      <vt:lpstr>Example - Conda</vt:lpstr>
      <vt:lpstr>Example - renv</vt:lpstr>
      <vt:lpstr>Note</vt:lpstr>
      <vt:lpstr>General principles</vt:lpstr>
      <vt:lpstr>PowerPoint Presentation</vt:lpstr>
      <vt:lpstr>Exercise</vt:lpstr>
      <vt:lpstr>Chaos</vt:lpstr>
      <vt:lpstr>PowerPoint Presentation</vt:lpstr>
      <vt:lpstr>Day 1- Overview</vt:lpstr>
      <vt:lpstr>Checklist</vt:lpstr>
      <vt:lpstr>PowerPoint Presentation</vt:lpstr>
      <vt:lpstr>Other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Efren Nauvoo Cruz Cortes</dc:creator>
  <cp:lastModifiedBy>Efren Nauvoo Cruz Cortes</cp:lastModifiedBy>
  <cp:revision>193</cp:revision>
  <dcterms:created xsi:type="dcterms:W3CDTF">2025-02-17T21:45:49Z</dcterms:created>
  <dcterms:modified xsi:type="dcterms:W3CDTF">2026-03-02T21:15:17Z</dcterms:modified>
</cp:coreProperties>
</file>