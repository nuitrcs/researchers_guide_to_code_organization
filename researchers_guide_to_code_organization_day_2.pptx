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324" r:id="rId2"/>
    <p:sldId id="310" r:id="rId3"/>
    <p:sldId id="325" r:id="rId4"/>
    <p:sldId id="326" r:id="rId5"/>
    <p:sldId id="327" r:id="rId6"/>
    <p:sldId id="359" r:id="rId7"/>
    <p:sldId id="311" r:id="rId8"/>
    <p:sldId id="329" r:id="rId9"/>
    <p:sldId id="318" r:id="rId10"/>
    <p:sldId id="319" r:id="rId11"/>
    <p:sldId id="322" r:id="rId12"/>
    <p:sldId id="346" r:id="rId13"/>
    <p:sldId id="347" r:id="rId14"/>
    <p:sldId id="348" r:id="rId15"/>
    <p:sldId id="330" r:id="rId16"/>
    <p:sldId id="320" r:id="rId17"/>
    <p:sldId id="321" r:id="rId18"/>
    <p:sldId id="360" r:id="rId19"/>
    <p:sldId id="314" r:id="rId20"/>
    <p:sldId id="332" r:id="rId21"/>
    <p:sldId id="333" r:id="rId22"/>
    <p:sldId id="349" r:id="rId23"/>
    <p:sldId id="334" r:id="rId24"/>
    <p:sldId id="350" r:id="rId25"/>
    <p:sldId id="335" r:id="rId26"/>
    <p:sldId id="351" r:id="rId27"/>
    <p:sldId id="361" r:id="rId28"/>
    <p:sldId id="315" r:id="rId29"/>
    <p:sldId id="336" r:id="rId30"/>
    <p:sldId id="357" r:id="rId31"/>
    <p:sldId id="352" r:id="rId32"/>
    <p:sldId id="337" r:id="rId33"/>
    <p:sldId id="354" r:id="rId34"/>
    <p:sldId id="358" r:id="rId35"/>
    <p:sldId id="338" r:id="rId36"/>
    <p:sldId id="355" r:id="rId37"/>
    <p:sldId id="362" r:id="rId38"/>
    <p:sldId id="316" r:id="rId39"/>
    <p:sldId id="339" r:id="rId40"/>
    <p:sldId id="356" r:id="rId41"/>
    <p:sldId id="340" r:id="rId42"/>
    <p:sldId id="341" r:id="rId43"/>
    <p:sldId id="414" r:id="rId44"/>
    <p:sldId id="413" r:id="rId45"/>
    <p:sldId id="415" r:id="rId46"/>
    <p:sldId id="317" r:id="rId47"/>
    <p:sldId id="343" r:id="rId48"/>
    <p:sldId id="342" r:id="rId49"/>
    <p:sldId id="344" r:id="rId50"/>
    <p:sldId id="412" r:id="rId51"/>
    <p:sldId id="363" r:id="rId52"/>
    <p:sldId id="411" r:id="rId53"/>
    <p:sldId id="410" r:id="rId54"/>
    <p:sldId id="364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62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11"/>
    <p:restoredTop sz="94689"/>
  </p:normalViewPr>
  <p:slideViewPr>
    <p:cSldViewPr snapToGrid="0">
      <p:cViewPr varScale="1">
        <p:scale>
          <a:sx n="114" d="100"/>
          <a:sy n="114" d="100"/>
        </p:scale>
        <p:origin x="192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CB1BD0-5A07-3246-A660-143DDC17CB21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61754-E8B4-8E4E-BC6F-7D6F12229B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661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talk about these in more detail in day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27927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B663D-0CBA-0946-288A-A32DD68CE0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C1DF5-ED8A-A33D-9695-F54380B4A5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9CEA0-BEF8-E194-7D5D-5D3A68587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A50971-4CCE-8F4E-8782-89B8B7DE0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3955A-404A-80A4-9BDB-3A79EC55F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6010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6073-908A-89AB-5507-822CDE35C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28575">
            <a:noFill/>
          </a:ln>
        </p:spPr>
        <p:txBody>
          <a:bodyPr anchor="b"/>
          <a:lstStyle>
            <a:lvl1pPr algn="ctr">
              <a:defRPr sz="6000"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B5D14-338A-AF28-3045-3FA3FAA02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6D71A-A875-0AF4-98E8-3B04D5E10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62CF-15CF-3119-44E1-6A2E6DC8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F1063-7CBA-D23D-9D84-C1A45FF9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677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2/24/26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5DF910-683F-4125-68EE-CA06B68DAC5F}"/>
              </a:ext>
            </a:extLst>
          </p:cNvPr>
          <p:cNvSpPr txBox="1"/>
          <p:nvPr userDrawn="1"/>
        </p:nvSpPr>
        <p:spPr>
          <a:xfrm>
            <a:off x="9921765" y="6633552"/>
            <a:ext cx="2249215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Slides by efrén cruz cortés</a:t>
            </a:r>
          </a:p>
        </p:txBody>
      </p:sp>
    </p:spTree>
    <p:extLst>
      <p:ext uri="{BB962C8B-B14F-4D97-AF65-F5344CB8AC3E}">
        <p14:creationId xmlns:p14="http://schemas.microsoft.com/office/powerpoint/2010/main" val="3546713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DE0A8-D95C-E51A-F244-AC8A65283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16B38-DCEC-CDA8-6DDF-DDB50E1CF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235E2-FA84-7BD1-72D9-35F439AC2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6FB42-514D-7818-057A-3D29B9840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986C1-FAD9-E8EA-038B-A9A9DDAA7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689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56BA6-963B-5CE2-2775-9758AFBA5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3BDBAB-3817-823E-4309-32DA2A359D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A509F-C6FB-A859-E037-D0DC73446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B8366-71BF-E4D9-9EDB-4EB8AA2EA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E2CD3-42D4-7EB2-C07A-B503DE71E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47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65D4D-14AC-B8BF-8C7B-994848FD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33575-18C4-4820-2EF0-1C4AE2258A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E24172-5C0A-8CBF-4021-6C90A96601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E10E7E-F8EF-26EE-5285-3C8B2DB33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0A8325-5630-3880-D5BF-BD287D07E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FB8B92-A792-9B10-4FB9-9580FB648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569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D9C16-B351-1AD2-43F8-131E8082A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61135-E3EA-2631-5FC7-AA5D5504B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2571AC-C949-1428-FF11-53F248F856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7F89D3-FBB1-E203-0C0F-395C4100E5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1FD179-8248-4DBE-ED1D-B9885993E0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8CB05F-851F-0DBA-8654-094B2E25A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8F6B08-93AB-E8D2-D915-A35DCE317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D2EAAC-6C5D-8F03-2AF7-9A96FE01E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51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D194C-084F-CB66-32B2-846BDAF2D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FF2521-22CD-2D64-9964-FFB6E6585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B9D3E7-E528-EA79-2236-F23738CF7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D7420-95EE-83E1-E9B0-2C9073BDD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367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83ADE6-2F7B-949C-2750-2E07B0AC2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941CBC-6DB3-4176-3C99-50BAB1BE4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C359A-6C70-C9FA-508D-617E47571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476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7CAD-D625-D449-FF31-268D12BEA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561E8-06CB-378F-A481-30D7682A6A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B637AA-105C-2F97-2C88-595548F50A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E6ACB4-4216-12B6-EFBB-E83D13F9C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A744C-8FB6-105E-B326-1C0158D2C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097661-E4D0-DB57-9CA2-7E01B7B06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0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4162B-872B-19A9-1C52-E579B91C2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CE890A-0277-FFD0-5DA1-7EF977FC95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D797B1-43B4-99FE-315C-FF7C5796A9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F4EC23-4600-6D59-241E-9E0159B56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E05E09-C8C5-98DE-6C42-F242673C6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6F9BB0-4606-7FA6-CA0C-25BBF2691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3419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0BF85-4D48-FD71-F511-C14D5A165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AB1588-E261-DD4D-087A-D2E26CD658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28FDD1-E7CB-540A-9C7C-33829AAB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2A662-A053-4B5A-0262-EDF811DFD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22276-5E68-72F4-FA3D-9484735B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4514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F378AE-BB5B-6007-C84E-597369DAEB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AA97B7-DC8D-DB8A-397D-3035BB37EA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12689-63FD-0EFB-A02E-98D92DE3C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7BC20-7A1B-A07C-2870-750CAA0E1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75CAB-E2E3-8C92-CA89-7567BE46A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13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3B1C6C-DD1F-5389-2207-5672C81E1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35032-7B95-9048-91B1-D9622F20B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C0E0E-01C4-F60F-EAF4-90297D5F6E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5EA723-594D-2246-8483-776EEB0415A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C5991-87C3-6014-BCF1-1BF8218015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2C313-7E26-058D-E54B-D10A1E3372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091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9D024-C37D-421A-1293-D0F1B4DDC0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Researcher’s Guide to Code Organization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D0DD11-7E53-E7A8-BD01-67E7553883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efrén cruz cortés</a:t>
            </a:r>
          </a:p>
          <a:p>
            <a:r>
              <a:rPr lang="en-US" dirty="0"/>
              <a:t>TA: Yangyang Li</a:t>
            </a:r>
          </a:p>
        </p:txBody>
      </p:sp>
    </p:spTree>
    <p:extLst>
      <p:ext uri="{BB962C8B-B14F-4D97-AF65-F5344CB8AC3E}">
        <p14:creationId xmlns:p14="http://schemas.microsoft.com/office/powerpoint/2010/main" val="1126200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A345C4ED-BD9D-1C33-1D99-50BAE26C4A8D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1161693-9B81-8479-AACA-750319997F46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C8EBFB4A-CE18-C1A0-B950-DFF2A28F3F49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CCD19715-02E1-664B-8571-BC1FDD58E7B3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E9114B-1404-18EA-E974-807B00F42B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Day 2 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676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D01C0-0265-CAFE-65E8-1CF30C14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866C8-E0B0-2A01-00E8-7D9D17D89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this sound familiar?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0C5D2-9B68-A718-0964-26D5963AB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US" dirty="0"/>
              <a:t>‘I wrote this a year ago, and I can’t remember what it does.’</a:t>
            </a:r>
          </a:p>
          <a:p>
            <a:pPr>
              <a:spcAft>
                <a:spcPts val="1800"/>
              </a:spcAft>
            </a:pPr>
            <a:r>
              <a:rPr lang="en-US" dirty="0"/>
              <a:t>‘These parameters worked for me, feel free to change them in the script.’</a:t>
            </a:r>
          </a:p>
          <a:p>
            <a:pPr>
              <a:spcAft>
                <a:spcPts val="1800"/>
              </a:spcAft>
            </a:pPr>
            <a:r>
              <a:rPr lang="en-US" dirty="0"/>
              <a:t>‘My friend Alice sent me a script, but it says the data is in /Home/Users/</a:t>
            </a:r>
            <a:r>
              <a:rPr lang="en-US" i="1" dirty="0"/>
              <a:t>Alice/Desktop/Data</a:t>
            </a:r>
            <a:r>
              <a:rPr lang="en-US" dirty="0"/>
              <a:t>?’</a:t>
            </a:r>
          </a:p>
          <a:p>
            <a:pPr>
              <a:spcAft>
                <a:spcPts val="1800"/>
              </a:spcAft>
            </a:pPr>
            <a:endParaRPr lang="en-US" dirty="0"/>
          </a:p>
          <a:p>
            <a:pPr>
              <a:spcAft>
                <a:spcPts val="1800"/>
              </a:spcAft>
            </a:pPr>
            <a:r>
              <a:rPr lang="en-US" dirty="0"/>
              <a:t>‘Yeah, somewhere around line 2000 you should find the value I used for C’</a:t>
            </a:r>
          </a:p>
        </p:txBody>
      </p:sp>
    </p:spTree>
    <p:extLst>
      <p:ext uri="{BB962C8B-B14F-4D97-AF65-F5344CB8AC3E}">
        <p14:creationId xmlns:p14="http://schemas.microsoft.com/office/powerpoint/2010/main" val="3631474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64DA0-ED9E-6387-408A-72C90A78A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79CF4-7A39-6BCE-DB4B-7377711A0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Using proper principles when programming will:</a:t>
            </a:r>
          </a:p>
          <a:p>
            <a:pPr>
              <a:spcAft>
                <a:spcPts val="1200"/>
              </a:spcAft>
            </a:pPr>
            <a:r>
              <a:rPr lang="en-US" dirty="0"/>
              <a:t>Allow you to easily debug</a:t>
            </a:r>
          </a:p>
          <a:p>
            <a:pPr>
              <a:spcAft>
                <a:spcPts val="1200"/>
              </a:spcAft>
            </a:pPr>
            <a:r>
              <a:rPr lang="en-US" dirty="0"/>
              <a:t>Allow you to share your code and make it easy for others to run and contribute</a:t>
            </a:r>
          </a:p>
          <a:p>
            <a:pPr>
              <a:spcAft>
                <a:spcPts val="1200"/>
              </a:spcAft>
            </a:pPr>
            <a:r>
              <a:rPr lang="en-US" dirty="0"/>
              <a:t>Avoid errors due to untracked and inconsistent parameters</a:t>
            </a:r>
          </a:p>
          <a:p>
            <a:pPr>
              <a:spcAft>
                <a:spcPts val="1200"/>
              </a:spcAft>
            </a:pPr>
            <a:r>
              <a:rPr lang="en-US" dirty="0"/>
              <a:t>Allow you to easily change full sections of your code</a:t>
            </a:r>
          </a:p>
          <a:p>
            <a:pPr>
              <a:spcAft>
                <a:spcPts val="1200"/>
              </a:spcAft>
            </a:pPr>
            <a:r>
              <a:rPr lang="en-US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4003667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AB4B6-46D6-9752-C303-24F5B779D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2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251A0-4E6A-02FE-BE9F-1521851598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5080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should code...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350A91-20F0-4B0F-3BC5-522938FED411}"/>
              </a:ext>
            </a:extLst>
          </p:cNvPr>
          <p:cNvSpPr txBox="1"/>
          <p:nvPr/>
        </p:nvSpPr>
        <p:spPr>
          <a:xfrm>
            <a:off x="934358" y="2336800"/>
            <a:ext cx="18035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structured?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A672D0-6DB1-CA33-8617-3C03E9C606F3}"/>
              </a:ext>
            </a:extLst>
          </p:cNvPr>
          <p:cNvSpPr txBox="1"/>
          <p:nvPr/>
        </p:nvSpPr>
        <p:spPr>
          <a:xfrm>
            <a:off x="2997200" y="5010150"/>
            <a:ext cx="20056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Code Quality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98D063-ABC5-E6E7-63AB-0D8C0DA150EF}"/>
              </a:ext>
            </a:extLst>
          </p:cNvPr>
          <p:cNvSpPr txBox="1"/>
          <p:nvPr/>
        </p:nvSpPr>
        <p:spPr>
          <a:xfrm>
            <a:off x="5313513" y="2336800"/>
            <a:ext cx="16784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managed?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DCB3E8-9951-2E5D-008E-82FAA63A2457}"/>
              </a:ext>
            </a:extLst>
          </p:cNvPr>
          <p:cNvSpPr txBox="1"/>
          <p:nvPr/>
        </p:nvSpPr>
        <p:spPr>
          <a:xfrm>
            <a:off x="7416800" y="2336800"/>
            <a:ext cx="18169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work properly?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0BA94C-35D2-D742-D8E3-3376FB66F07B}"/>
              </a:ext>
            </a:extLst>
          </p:cNvPr>
          <p:cNvSpPr txBox="1"/>
          <p:nvPr/>
        </p:nvSpPr>
        <p:spPr>
          <a:xfrm>
            <a:off x="9652000" y="2336800"/>
            <a:ext cx="1642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stay healthy?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7412AE-2926-4542-1964-B5EB7E80AE8F}"/>
              </a:ext>
            </a:extLst>
          </p:cNvPr>
          <p:cNvSpPr txBox="1"/>
          <p:nvPr/>
        </p:nvSpPr>
        <p:spPr>
          <a:xfrm>
            <a:off x="850900" y="5010150"/>
            <a:ext cx="1931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Architecture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DA9DC5-3EB9-0313-D6E9-CB59108B3529}"/>
              </a:ext>
            </a:extLst>
          </p:cNvPr>
          <p:cNvSpPr txBox="1"/>
          <p:nvPr/>
        </p:nvSpPr>
        <p:spPr>
          <a:xfrm>
            <a:off x="3312888" y="2336800"/>
            <a:ext cx="1412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written?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4D199-3050-7B24-338C-F238CB3BBB88}"/>
              </a:ext>
            </a:extLst>
          </p:cNvPr>
          <p:cNvSpPr txBox="1"/>
          <p:nvPr/>
        </p:nvSpPr>
        <p:spPr>
          <a:xfrm>
            <a:off x="5194300" y="5010150"/>
            <a:ext cx="2095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Configuration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8133D9-EF62-176A-FE63-AFB0B7942F66}"/>
              </a:ext>
            </a:extLst>
          </p:cNvPr>
          <p:cNvSpPr txBox="1"/>
          <p:nvPr/>
        </p:nvSpPr>
        <p:spPr>
          <a:xfrm>
            <a:off x="7543800" y="5010150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Reliability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AC22D2-36FD-3ABF-9B92-5FE4B6396D03}"/>
              </a:ext>
            </a:extLst>
          </p:cNvPr>
          <p:cNvSpPr txBox="1"/>
          <p:nvPr/>
        </p:nvSpPr>
        <p:spPr>
          <a:xfrm>
            <a:off x="9385301" y="4825484"/>
            <a:ext cx="2235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Continuous Improvement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CAE725A-5186-7000-82B2-F646EEE18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50" y="2836134"/>
            <a:ext cx="1836871" cy="18770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1149C49-5798-E45F-7C21-1D53F857C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316" y="2866554"/>
            <a:ext cx="1786683" cy="181618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A8100C4-2B83-950A-1866-F645D9DDD9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4394" y="2871586"/>
            <a:ext cx="1776646" cy="180611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4E16685-CED9-1DA4-61F9-2B3DDA4CF2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7435" y="2866247"/>
            <a:ext cx="1795621" cy="181679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04CEFB0-4F77-69AE-EAA7-921FCA4685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9450" y="2871973"/>
            <a:ext cx="1784350" cy="180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896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7AC35-B980-0F98-19C0-18F4AC7D8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0EE39-173A-2261-222B-2EFF5A9C7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13966-5187-7D34-0332-A4FF9BB02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Organization</a:t>
            </a:r>
          </a:p>
          <a:p>
            <a:pPr lvl="1"/>
            <a:r>
              <a:rPr lang="en-US" dirty="0"/>
              <a:t>Separation of Concerns</a:t>
            </a:r>
          </a:p>
          <a:p>
            <a:pPr lvl="1"/>
            <a:r>
              <a:rPr lang="en-US" dirty="0"/>
              <a:t>Modularity</a:t>
            </a:r>
          </a:p>
          <a:p>
            <a:pPr lvl="1"/>
            <a:r>
              <a:rPr lang="en-US" dirty="0"/>
              <a:t>Containment</a:t>
            </a:r>
          </a:p>
          <a:p>
            <a:pPr lvl="1"/>
            <a:r>
              <a:rPr lang="en-US" dirty="0"/>
              <a:t>Hierarchy</a:t>
            </a:r>
          </a:p>
          <a:p>
            <a:r>
              <a:rPr lang="en-US" dirty="0"/>
              <a:t>Efficiency</a:t>
            </a:r>
          </a:p>
          <a:p>
            <a:pPr lvl="1"/>
            <a:r>
              <a:rPr lang="en-US" dirty="0"/>
              <a:t>Usability</a:t>
            </a:r>
          </a:p>
          <a:p>
            <a:pPr lvl="1"/>
            <a:r>
              <a:rPr lang="en-US" dirty="0"/>
              <a:t>Portability</a:t>
            </a:r>
          </a:p>
          <a:p>
            <a:pPr lvl="1"/>
            <a:r>
              <a:rPr lang="en-US" dirty="0"/>
              <a:t>Automation</a:t>
            </a:r>
          </a:p>
          <a:p>
            <a:pPr lvl="1"/>
            <a:r>
              <a:rPr lang="en-US" dirty="0"/>
              <a:t>Scalability</a:t>
            </a:r>
          </a:p>
          <a:p>
            <a:r>
              <a:rPr lang="en-US" dirty="0"/>
              <a:t>Collaboration</a:t>
            </a:r>
          </a:p>
          <a:p>
            <a:pPr lvl="1"/>
            <a:r>
              <a:rPr lang="en-US" dirty="0"/>
              <a:t>Transparency</a:t>
            </a:r>
          </a:p>
          <a:p>
            <a:pPr lvl="1"/>
            <a:r>
              <a:rPr lang="en-US" dirty="0"/>
              <a:t>Reproducibility</a:t>
            </a:r>
          </a:p>
          <a:p>
            <a:pPr lvl="1"/>
            <a:r>
              <a:rPr lang="en-US" dirty="0"/>
              <a:t>Version Control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238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02177-76F7-59EE-6988-5F7D0DFED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8A4506E-329E-6FDD-C6DA-998C0196845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E5F636C-7A09-8FB7-11C0-5BC42AEF01EA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B8507652-F891-E580-1334-C20A8DBBF31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C106C1DF-41C6-526A-9DF4-2F00141B03FA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C7E19E-F43D-A9BF-5F29-12ED7BF577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Separation of Concerns and Modularity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2822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402FE-9735-F3D7-9A5A-381BF9BBF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Separation of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08F0E-51B0-5E5E-6B48-227F2068D3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Organize your code into units such that:</a:t>
            </a:r>
          </a:p>
          <a:p>
            <a:pPr lvl="1"/>
            <a:r>
              <a:rPr lang="en-US" dirty="0"/>
              <a:t>each unit addresses </a:t>
            </a:r>
            <a:r>
              <a:rPr lang="en-US" i="1" dirty="0"/>
              <a:t>only one concern</a:t>
            </a:r>
            <a:endParaRPr lang="en-US" dirty="0"/>
          </a:p>
          <a:p>
            <a:pPr lvl="1"/>
            <a:r>
              <a:rPr lang="en-US" dirty="0"/>
              <a:t>applies to all levels: sections within a script, functions, classes, scripts, collections of scripts, etc.</a:t>
            </a:r>
          </a:p>
          <a:p>
            <a:pPr lvl="1"/>
            <a:endParaRPr lang="en-US" i="1" dirty="0"/>
          </a:p>
          <a:p>
            <a:pPr marL="0" indent="0">
              <a:buNone/>
            </a:pPr>
            <a:r>
              <a:rPr lang="en-US" dirty="0"/>
              <a:t>Single Responsibility Principle:</a:t>
            </a:r>
          </a:p>
          <a:p>
            <a:pPr lvl="1"/>
            <a:r>
              <a:rPr lang="en-US" dirty="0"/>
              <a:t>Separation of concerns at the smallest level (function / class)</a:t>
            </a:r>
          </a:p>
          <a:p>
            <a:pPr lvl="1"/>
            <a:r>
              <a:rPr lang="en-US" dirty="0"/>
              <a:t>Only one reason why it should change</a:t>
            </a:r>
          </a:p>
          <a:p>
            <a:pPr lvl="1"/>
            <a:r>
              <a:rPr lang="en-US" b="1" dirty="0"/>
              <a:t>Do one thing and do it well</a:t>
            </a:r>
          </a:p>
        </p:txBody>
      </p:sp>
    </p:spTree>
    <p:extLst>
      <p:ext uri="{BB962C8B-B14F-4D97-AF65-F5344CB8AC3E}">
        <p14:creationId xmlns:p14="http://schemas.microsoft.com/office/powerpoint/2010/main" val="3413422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1658D-445C-8CDD-1B51-11473C88D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577BC-EC9D-93E7-245D-921E110F4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Units, or </a:t>
            </a:r>
            <a:r>
              <a:rPr lang="en-US" i="1" dirty="0"/>
              <a:t>modules</a:t>
            </a:r>
            <a:r>
              <a:rPr lang="en-US" dirty="0"/>
              <a:t>, should be able to cohere with the whole:</a:t>
            </a:r>
          </a:p>
          <a:p>
            <a:endParaRPr lang="en-US" dirty="0"/>
          </a:p>
          <a:p>
            <a:r>
              <a:rPr lang="en-US" dirty="0"/>
              <a:t>Encapsulation</a:t>
            </a:r>
          </a:p>
          <a:p>
            <a:pPr lvl="1"/>
            <a:r>
              <a:rPr lang="en-US" dirty="0"/>
              <a:t>Mostly self-contained</a:t>
            </a:r>
          </a:p>
          <a:p>
            <a:pPr lvl="1"/>
            <a:r>
              <a:rPr lang="en-US" dirty="0"/>
              <a:t>Control inputs and outputs</a:t>
            </a:r>
          </a:p>
          <a:p>
            <a:pPr lvl="1"/>
            <a:endParaRPr lang="en-US" dirty="0"/>
          </a:p>
          <a:p>
            <a:r>
              <a:rPr lang="en-US" dirty="0"/>
              <a:t>Exchangeability</a:t>
            </a:r>
          </a:p>
          <a:p>
            <a:pPr lvl="1"/>
            <a:r>
              <a:rPr lang="en-US" dirty="0"/>
              <a:t>swap modules without breaking the whole</a:t>
            </a:r>
          </a:p>
          <a:p>
            <a:pPr lvl="1"/>
            <a:r>
              <a:rPr lang="en-US" dirty="0"/>
              <a:t>e.g., change a regression model within a pipeline</a:t>
            </a:r>
          </a:p>
          <a:p>
            <a:pPr lvl="1"/>
            <a:endParaRPr lang="en-US" dirty="0"/>
          </a:p>
          <a:p>
            <a:r>
              <a:rPr lang="en-US" dirty="0"/>
              <a:t>Hierarchy</a:t>
            </a:r>
          </a:p>
          <a:p>
            <a:pPr lvl="1"/>
            <a:r>
              <a:rPr lang="en-US" dirty="0"/>
              <a:t>exchange flat long structures for hierarchically organized structures</a:t>
            </a:r>
          </a:p>
        </p:txBody>
      </p:sp>
    </p:spTree>
    <p:extLst>
      <p:ext uri="{BB962C8B-B14F-4D97-AF65-F5344CB8AC3E}">
        <p14:creationId xmlns:p14="http://schemas.microsoft.com/office/powerpoint/2010/main" val="1320052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12570-56DB-CB34-353A-1C19AE1D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Analogy - LEGO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CAE5C-BC42-0BB0-D64D-04CFAC4C2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 can organize LEGO pieces by function, color, part of the whole, etc.</a:t>
            </a:r>
          </a:p>
          <a:p>
            <a:r>
              <a:rPr lang="en-US" dirty="0"/>
              <a:t>this is akin to separation of concerns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Each LEGO piece has the capacity to be exchanged by another.</a:t>
            </a:r>
          </a:p>
          <a:p>
            <a:r>
              <a:rPr lang="en-US" dirty="0"/>
              <a:t>this is akin to modularity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CB1041-AA01-7A74-187A-EB5C8DCD4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200" y="4064554"/>
            <a:ext cx="3505200" cy="2497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0965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B7DB-7EAB-92BE-9510-D6BDEC22E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reuse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3CA2D-8212-FB3C-D37D-61086A88E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Your code may perform similar tasks but with slightly different parameters:</a:t>
            </a:r>
          </a:p>
          <a:p>
            <a:r>
              <a:rPr lang="en-US" dirty="0"/>
              <a:t>Same analysis for different patients</a:t>
            </a:r>
          </a:p>
          <a:p>
            <a:r>
              <a:rPr lang="en-US" dirty="0"/>
              <a:t>Same type of graphs for different datasets</a:t>
            </a:r>
          </a:p>
          <a:p>
            <a:r>
              <a:rPr lang="en-US" dirty="0"/>
              <a:t>Same processing steps for different parameters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ym typeface="Wingdings" pitchFamily="2" charset="2"/>
              </a:rPr>
              <a:t> Don’t repeat yourself!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0016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FB589-28DA-C2D9-231D-CC197A3F5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D94D2-D3A0-B762-AA3D-85EC13B07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8403771" cy="6277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can go wrong with this code?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AD6BF0-480D-68FD-B898-DF88EB0CFA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22" y="2207986"/>
            <a:ext cx="6168564" cy="419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027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BA01D-5A03-55BC-C690-160505DC8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72B23-7E7F-9F88-E734-983235A4C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235C0-0059-A5D1-E2BD-CC9157B29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8403771" cy="6277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can go wrong with this code?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51B46E-A42A-18CC-D205-B66421E273CD}"/>
              </a:ext>
            </a:extLst>
          </p:cNvPr>
          <p:cNvSpPr txBox="1"/>
          <p:nvPr/>
        </p:nvSpPr>
        <p:spPr>
          <a:xfrm>
            <a:off x="7151914" y="2296886"/>
            <a:ext cx="40821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possibilities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 the mistake in average_3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if we had 50 students?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if we decide to curve, or add extra points?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F59B07-4754-B1F7-8507-D1A371A97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22" y="2207986"/>
            <a:ext cx="6168564" cy="419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540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D089D-2F93-6C0B-5B9B-F0DC34AB8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3F047-9E83-2642-522D-0318F85F6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E292E-547D-E8D1-5267-E7BBFB0769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8772"/>
            <a:ext cx="3374571" cy="6277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No reuse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3C8D5D-1621-5A4E-5872-AEAC206A9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47" y="2111828"/>
            <a:ext cx="5393253" cy="366583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D082068-5A9E-4DAB-F912-9D5742BCECCF}"/>
              </a:ext>
            </a:extLst>
          </p:cNvPr>
          <p:cNvSpPr txBox="1">
            <a:spLocks/>
          </p:cNvSpPr>
          <p:nvPr/>
        </p:nvSpPr>
        <p:spPr>
          <a:xfrm>
            <a:off x="7369629" y="1418772"/>
            <a:ext cx="3374571" cy="6277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Reuse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1BE86D-50C9-4A88-6C4E-A5929F7B8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168" y="2122713"/>
            <a:ext cx="6168653" cy="3565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230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5D02F-BD1F-AB24-7E01-4784C862A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ECF77-FEBA-2A42-B817-FF23B5485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Group functions / classes with similar objectives or which are part of a procedural stage</a:t>
            </a:r>
          </a:p>
          <a:p>
            <a:r>
              <a:rPr lang="en-US" dirty="0"/>
              <a:t>Manage them at a higher abstraction level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Analogy</a:t>
            </a:r>
          </a:p>
          <a:p>
            <a:r>
              <a:rPr lang="en-US" dirty="0"/>
              <a:t>It would be hard to study the human body as a flat collection of atoms. So we cluster at different levels according to our needs:</a:t>
            </a:r>
          </a:p>
          <a:p>
            <a:pPr lvl="1"/>
            <a:r>
              <a:rPr lang="en-US" dirty="0"/>
              <a:t>Kinesiology: legs, torso, arms...</a:t>
            </a:r>
          </a:p>
          <a:p>
            <a:pPr lvl="1"/>
            <a:r>
              <a:rPr lang="en-US" dirty="0"/>
              <a:t>Physiology: respiratory system, endocrine system, nervous system...</a:t>
            </a:r>
          </a:p>
          <a:p>
            <a:pPr lvl="1"/>
            <a:r>
              <a:rPr lang="en-US" dirty="0"/>
              <a:t>Classical hierarchy: atoms </a:t>
            </a:r>
            <a:r>
              <a:rPr lang="en-US" dirty="0">
                <a:sym typeface="Wingdings" pitchFamily="2" charset="2"/>
              </a:rPr>
              <a:t> molecules  cells  tissue  organs ...</a:t>
            </a:r>
          </a:p>
          <a:p>
            <a:pPr lvl="1"/>
            <a:r>
              <a:rPr lang="en-US" dirty="0">
                <a:sym typeface="Wingdings" pitchFamily="2" charset="2"/>
              </a:rPr>
              <a:t>etc...</a:t>
            </a:r>
          </a:p>
        </p:txBody>
      </p:sp>
    </p:spTree>
    <p:extLst>
      <p:ext uri="{BB962C8B-B14F-4D97-AF65-F5344CB8AC3E}">
        <p14:creationId xmlns:p14="http://schemas.microsoft.com/office/powerpoint/2010/main" val="3217127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4FA8B-B437-0083-1F11-09FAB415E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flat script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4DDC12BB-AB4D-05E1-FC45-60DB4446F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5118"/>
            <a:ext cx="4211782" cy="471184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Long script:</a:t>
            </a:r>
          </a:p>
          <a:p>
            <a:r>
              <a:rPr lang="en-US" dirty="0"/>
              <a:t>Flat structure</a:t>
            </a:r>
          </a:p>
          <a:p>
            <a:r>
              <a:rPr lang="en-US" dirty="0"/>
              <a:t>Many responsibilities</a:t>
            </a:r>
          </a:p>
          <a:p>
            <a:r>
              <a:rPr lang="en-US" dirty="0"/>
              <a:t>Hard to debug</a:t>
            </a:r>
          </a:p>
          <a:p>
            <a:r>
              <a:rPr lang="en-US" dirty="0"/>
              <a:t>Hard to re-use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318789-D44B-00CD-6073-3879F514A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94" y="1698171"/>
            <a:ext cx="6765831" cy="4245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4956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71651-A2AE-D537-8E0F-9FB0C3A0B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382C8-3822-7CAA-3189-5F7348DE1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modular script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B26D44-ECBB-680E-5254-E919486AF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684" y="1454726"/>
            <a:ext cx="2098098" cy="18684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1D04B5A-456D-81BF-B3A9-DE36B2827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576" y="5148799"/>
            <a:ext cx="2026227" cy="5464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AAC504-3368-A951-5F98-0277C42E2D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634" y="5079034"/>
            <a:ext cx="2034929" cy="6859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CBF516-7739-255A-1E09-0CCA61A338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4395" y="5120695"/>
            <a:ext cx="2157574" cy="6026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6489947-AA1E-53BA-7C23-33D6250C4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3481" y="4723948"/>
            <a:ext cx="1959264" cy="1396168"/>
          </a:xfrm>
          <a:prstGeom prst="rect">
            <a:avLst/>
          </a:prstGeom>
        </p:spPr>
      </p:pic>
      <p:cxnSp>
        <p:nvCxnSpPr>
          <p:cNvPr id="4" name="Curved Connector 3">
            <a:extLst>
              <a:ext uri="{FF2B5EF4-FFF2-40B4-BE49-F238E27FC236}">
                <a16:creationId xmlns:a16="http://schemas.microsoft.com/office/drawing/2014/main" id="{C5C3464F-C179-E237-8FCE-E068E03E3C69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5400000">
            <a:off x="3356040" y="2250254"/>
            <a:ext cx="1400767" cy="354662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ED0FD055-6C7D-6B16-18B3-659787AF1C0B}"/>
              </a:ext>
            </a:extLst>
          </p:cNvPr>
          <p:cNvCxnSpPr>
            <a:stCxn id="7" idx="2"/>
            <a:endCxn id="8" idx="0"/>
          </p:cNvCxnSpPr>
          <p:nvPr/>
        </p:nvCxnSpPr>
        <p:spPr>
          <a:xfrm rot="5400000">
            <a:off x="4393403" y="3712469"/>
            <a:ext cx="1825618" cy="1047043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3B630A3B-5938-6EBF-8D57-490615CF469A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16200000" flipH="1">
            <a:off x="5696990" y="3455924"/>
            <a:ext cx="1755853" cy="14903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938C16D6-2E56-D5AE-0405-709C1DCA63F3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rot="16200000" flipH="1">
            <a:off x="6977700" y="2175213"/>
            <a:ext cx="1797514" cy="409344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5803E9-5E63-4FFC-94AA-628E0990DA17}"/>
              </a:ext>
            </a:extLst>
          </p:cNvPr>
          <p:cNvCxnSpPr>
            <a:stCxn id="8" idx="2"/>
          </p:cNvCxnSpPr>
          <p:nvPr/>
        </p:nvCxnSpPr>
        <p:spPr>
          <a:xfrm flipH="1">
            <a:off x="4778829" y="5695266"/>
            <a:ext cx="3861" cy="5204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7B7B7FF-961A-1E7A-C6AE-40C32E6A47DD}"/>
              </a:ext>
            </a:extLst>
          </p:cNvPr>
          <p:cNvCxnSpPr>
            <a:stCxn id="11" idx="2"/>
          </p:cNvCxnSpPr>
          <p:nvPr/>
        </p:nvCxnSpPr>
        <p:spPr>
          <a:xfrm>
            <a:off x="2283113" y="6120116"/>
            <a:ext cx="2887" cy="2915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F57117-84E0-6861-10FD-B0774C49436F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20099" y="5765030"/>
            <a:ext cx="0" cy="5486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09FD434-0205-510C-BEE2-A7E0C5148ABB}"/>
              </a:ext>
            </a:extLst>
          </p:cNvPr>
          <p:cNvCxnSpPr>
            <a:stCxn id="10" idx="2"/>
          </p:cNvCxnSpPr>
          <p:nvPr/>
        </p:nvCxnSpPr>
        <p:spPr>
          <a:xfrm flipH="1">
            <a:off x="9916886" y="5723369"/>
            <a:ext cx="6296" cy="5576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11">
            <a:extLst>
              <a:ext uri="{FF2B5EF4-FFF2-40B4-BE49-F238E27FC236}">
                <a16:creationId xmlns:a16="http://schemas.microsoft.com/office/drawing/2014/main" id="{64EDAB50-1B9F-895E-6464-1DEDB1D2D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5119"/>
            <a:ext cx="3439886" cy="2268682"/>
          </a:xfrm>
        </p:spPr>
        <p:txBody>
          <a:bodyPr>
            <a:normAutofit/>
          </a:bodyPr>
          <a:lstStyle/>
          <a:p>
            <a:r>
              <a:rPr lang="en-US" sz="2000" dirty="0"/>
              <a:t>Divide into smaller modules</a:t>
            </a:r>
          </a:p>
          <a:p>
            <a:r>
              <a:rPr lang="en-US" sz="2000" dirty="0"/>
              <a:t>Each sub-module may have multiple scripts within</a:t>
            </a:r>
          </a:p>
        </p:txBody>
      </p:sp>
    </p:spTree>
    <p:extLst>
      <p:ext uri="{BB962C8B-B14F-4D97-AF65-F5344CB8AC3E}">
        <p14:creationId xmlns:p14="http://schemas.microsoft.com/office/powerpoint/2010/main" val="2589340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2D2AF-C224-D322-5216-3C12DABEC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6D2BD-7C80-97D6-78F5-3D6E81E69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You’re building an epidemiological model to simulate a recent outbreak. Your project must handle:</a:t>
            </a:r>
          </a:p>
          <a:p>
            <a:r>
              <a:rPr lang="en-US" b="1" dirty="0"/>
              <a:t>Population Agents</a:t>
            </a:r>
            <a:r>
              <a:rPr lang="en-US" dirty="0"/>
              <a:t>: Different behavior for introverts (stay home) and extroverts (go out to parties).</a:t>
            </a:r>
          </a:p>
          <a:p>
            <a:r>
              <a:rPr lang="en-US" b="1" dirty="0"/>
              <a:t>Environments</a:t>
            </a:r>
            <a:r>
              <a:rPr lang="en-US" dirty="0"/>
              <a:t>: Different social networks, a dense “urban” one, and a sparse “rural” one.</a:t>
            </a:r>
          </a:p>
          <a:p>
            <a:r>
              <a:rPr lang="en-US" b="1" dirty="0"/>
              <a:t>Pipeline:</a:t>
            </a:r>
            <a:r>
              <a:rPr lang="en-US" dirty="0"/>
              <a:t> Uses raw historical data to start simulation, plots dynamics, compares statistics, validates with current data.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dirty="0"/>
              <a:t>Which modules would you need, and how do you organize your project accordingly?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Talk to your neighbor about it!</a:t>
            </a:r>
          </a:p>
        </p:txBody>
      </p:sp>
    </p:spTree>
    <p:extLst>
      <p:ext uri="{BB962C8B-B14F-4D97-AF65-F5344CB8AC3E}">
        <p14:creationId xmlns:p14="http://schemas.microsoft.com/office/powerpoint/2010/main" val="24437863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BF6D8-4963-B680-B24A-CDB783955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B621432-5463-F73C-8C49-B67F93C6EA7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670B39AF-C5D7-9E16-F845-BD7C4743272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1EE448F-9B17-6FE0-A701-203296C42B6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5E5AB464-2EB9-8D77-368B-217AFB3CC116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FD3F28-321C-6ED0-4298-A09411E4B1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Code Quality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08980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8E451-EF42-F09B-BF0C-94F2615D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7D6BC-A86E-42D4-E658-52B4732143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Similar to the folder/file case</a:t>
            </a:r>
          </a:p>
          <a:p>
            <a:pPr lvl="1"/>
            <a:r>
              <a:rPr lang="en-US" dirty="0" err="1"/>
              <a:t>snake_case</a:t>
            </a:r>
            <a:r>
              <a:rPr lang="en-US" dirty="0"/>
              <a:t>: </a:t>
            </a:r>
            <a:r>
              <a:rPr lang="en-US" i="1" dirty="0" err="1"/>
              <a:t>my_variable_name</a:t>
            </a:r>
            <a:endParaRPr lang="en-US" dirty="0"/>
          </a:p>
          <a:p>
            <a:pPr lvl="1"/>
            <a:r>
              <a:rPr lang="en-US" dirty="0"/>
              <a:t>camelCase: </a:t>
            </a:r>
            <a:r>
              <a:rPr lang="en-US" dirty="0" err="1"/>
              <a:t>MyClassName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Different programming languages use different conventions.</a:t>
            </a:r>
          </a:p>
          <a:p>
            <a:pPr lvl="1"/>
            <a:r>
              <a:rPr lang="en-US" dirty="0"/>
              <a:t>consult the conventions of your community</a:t>
            </a:r>
          </a:p>
          <a:p>
            <a:pPr lvl="1"/>
            <a:r>
              <a:rPr lang="en-US" dirty="0"/>
              <a:t>pay particular attention to: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variables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constants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functions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classes</a:t>
            </a:r>
          </a:p>
        </p:txBody>
      </p:sp>
    </p:spTree>
    <p:extLst>
      <p:ext uri="{BB962C8B-B14F-4D97-AF65-F5344CB8AC3E}">
        <p14:creationId xmlns:p14="http://schemas.microsoft.com/office/powerpoint/2010/main" val="34565991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D59E1-6045-0D7A-FD3F-8F59EB55D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Annotations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32F94-3915-996E-3C45-2EA05C5856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Comment your code!</a:t>
            </a:r>
          </a:p>
          <a:p>
            <a:endParaRPr lang="en-US" dirty="0"/>
          </a:p>
          <a:p>
            <a:r>
              <a:rPr lang="en-US" b="1" dirty="0"/>
              <a:t>Description</a:t>
            </a:r>
            <a:r>
              <a:rPr lang="en-US" dirty="0"/>
              <a:t>. At the top of your script / function. Provide a high level overview of what it does, inputs and outputs.</a:t>
            </a:r>
          </a:p>
          <a:p>
            <a:endParaRPr lang="en-US" b="1" dirty="0"/>
          </a:p>
          <a:p>
            <a:r>
              <a:rPr lang="en-US" b="1" dirty="0"/>
              <a:t>Line comments.</a:t>
            </a:r>
            <a:r>
              <a:rPr lang="en-US" dirty="0"/>
              <a:t> These work for more specific guidance, to separate sections, justify decisions, etc.</a:t>
            </a:r>
          </a:p>
          <a:p>
            <a:endParaRPr lang="en-US" b="1" dirty="0"/>
          </a:p>
          <a:p>
            <a:r>
              <a:rPr lang="en-US" b="1" dirty="0"/>
              <a:t>Type hints.</a:t>
            </a:r>
            <a:r>
              <a:rPr lang="en-US" dirty="0"/>
              <a:t> Some languages also provide a way to indicate the variable type (number, text, list, etc.)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692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D5760-2E89-36B9-9467-4C8048832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1F5A88-24DB-4941-8295-99CA12169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6" y="1472293"/>
            <a:ext cx="7162800" cy="447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3634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3FAF-684B-AF18-5C15-5866BB599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Magic Numbers and Constants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B26F9-436C-5395-48D6-B9D01D7ECA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Magic numbers are hard-coded numbers sprinkled throughout your code</a:t>
            </a:r>
          </a:p>
          <a:p>
            <a:r>
              <a:rPr lang="en-US" dirty="0"/>
              <a:t>If possible, all numerical values used in the code should be kept in a different configuration file</a:t>
            </a:r>
          </a:p>
          <a:p>
            <a:r>
              <a:rPr lang="en-US" dirty="0"/>
              <a:t>If you will set values within the code, place them at the </a:t>
            </a:r>
            <a:r>
              <a:rPr lang="en-US" b="1" dirty="0"/>
              <a:t>top of the script</a:t>
            </a:r>
            <a:endParaRPr lang="en-US" dirty="0"/>
          </a:p>
          <a:p>
            <a:r>
              <a:rPr lang="en-US" dirty="0"/>
              <a:t>Same principle goes for constants</a:t>
            </a:r>
          </a:p>
        </p:txBody>
      </p:sp>
    </p:spTree>
    <p:extLst>
      <p:ext uri="{BB962C8B-B14F-4D97-AF65-F5344CB8AC3E}">
        <p14:creationId xmlns:p14="http://schemas.microsoft.com/office/powerpoint/2010/main" val="34286357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C9909-C180-CD5A-57FC-094C3963E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1E4D5-CE7C-A56B-FFEC-A0D197370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313" y="1445987"/>
            <a:ext cx="2536371" cy="431800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dirty="0"/>
              <a:t>Bad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4CDA43-044D-BC22-10BD-CD038DDD6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71" y="2207984"/>
            <a:ext cx="2327729" cy="3295097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805F52B-8307-069D-BE77-958521D7FCFB}"/>
              </a:ext>
            </a:extLst>
          </p:cNvPr>
          <p:cNvSpPr txBox="1">
            <a:spLocks/>
          </p:cNvSpPr>
          <p:nvPr/>
        </p:nvSpPr>
        <p:spPr>
          <a:xfrm>
            <a:off x="3581399" y="1445987"/>
            <a:ext cx="2536371" cy="431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Better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8E991E7-4AB1-8C7B-BA1B-00CEDDDDF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486" y="2220685"/>
            <a:ext cx="5032975" cy="3148482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8083945-A562-F678-5AFD-D8856DE40FED}"/>
              </a:ext>
            </a:extLst>
          </p:cNvPr>
          <p:cNvSpPr txBox="1">
            <a:spLocks/>
          </p:cNvSpPr>
          <p:nvPr/>
        </p:nvSpPr>
        <p:spPr>
          <a:xfrm>
            <a:off x="7652657" y="1445987"/>
            <a:ext cx="2536371" cy="431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Best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505A186-45D1-94F1-6486-04140572F3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2157" y="2149022"/>
            <a:ext cx="2667000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706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3A804-3C26-E819-BB01-73F5F4A8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D4794-0279-90D2-380A-B83605F3A2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Broadly speaking, a scope is a defined region (conceptual) of the code where variables or functions can be accessed.</a:t>
            </a:r>
          </a:p>
          <a:p>
            <a:r>
              <a:rPr lang="en-US" b="1" dirty="0"/>
              <a:t>Global scope.</a:t>
            </a:r>
            <a:r>
              <a:rPr lang="en-US" dirty="0"/>
              <a:t> If a variable is defined </a:t>
            </a:r>
            <a:r>
              <a:rPr lang="en-US" i="1" dirty="0"/>
              <a:t>globally</a:t>
            </a:r>
            <a:r>
              <a:rPr lang="en-US" dirty="0"/>
              <a:t>, then it can be accessed everywhere in the code</a:t>
            </a:r>
          </a:p>
          <a:p>
            <a:r>
              <a:rPr lang="en-US" b="1" dirty="0"/>
              <a:t>Local scope.</a:t>
            </a:r>
            <a:r>
              <a:rPr lang="en-US" dirty="0"/>
              <a:t> If a variable is defined </a:t>
            </a:r>
            <a:r>
              <a:rPr lang="en-US" i="1" dirty="0"/>
              <a:t>locally</a:t>
            </a:r>
            <a:r>
              <a:rPr lang="en-US" dirty="0"/>
              <a:t>, (for example, inside a function), then that variable is only available while inside the function, not outside.</a:t>
            </a:r>
          </a:p>
        </p:txBody>
      </p:sp>
    </p:spTree>
    <p:extLst>
      <p:ext uri="{BB962C8B-B14F-4D97-AF65-F5344CB8AC3E}">
        <p14:creationId xmlns:p14="http://schemas.microsoft.com/office/powerpoint/2010/main" val="17087623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77B4E-8F36-DDEE-D439-D1DBF7977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954C1-D369-3F8C-130B-1B8531D702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352314" cy="64951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When you build functions, try to avoid global dependency.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41EDAD-CEAB-7D95-875E-F377F6035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335" y="3069771"/>
            <a:ext cx="3873500" cy="13280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224C3E-D8C3-6A13-6537-B2F6E96CB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5177" y="3292021"/>
            <a:ext cx="5424362" cy="8772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1E3282-F637-7511-7716-0F9A493A72F3}"/>
              </a:ext>
            </a:extLst>
          </p:cNvPr>
          <p:cNvSpPr txBox="1"/>
          <p:nvPr/>
        </p:nvSpPr>
        <p:spPr>
          <a:xfrm>
            <a:off x="1077684" y="2601685"/>
            <a:ext cx="2667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Works, but hard to debug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FB0EAF-E009-D47D-A4F1-82D78FCEE790}"/>
              </a:ext>
            </a:extLst>
          </p:cNvPr>
          <p:cNvSpPr txBox="1"/>
          <p:nvPr/>
        </p:nvSpPr>
        <p:spPr>
          <a:xfrm>
            <a:off x="8000997" y="2601685"/>
            <a:ext cx="14973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Best practice</a:t>
            </a:r>
          </a:p>
        </p:txBody>
      </p:sp>
    </p:spTree>
    <p:extLst>
      <p:ext uri="{BB962C8B-B14F-4D97-AF65-F5344CB8AC3E}">
        <p14:creationId xmlns:p14="http://schemas.microsoft.com/office/powerpoint/2010/main" val="32862284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105EC-C556-EBAA-5BB5-375B2E79F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4E0181-CD4E-C54E-7BDD-E1166F53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your exercise folder create a new file with a function computing the volume of a cylinder. Requirements: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File-level and function-level documentation</a:t>
            </a:r>
          </a:p>
          <a:p>
            <a:r>
              <a:rPr lang="en-US" dirty="0"/>
              <a:t>If you need to use constants, place them at the top of the file</a:t>
            </a:r>
          </a:p>
          <a:p>
            <a:r>
              <a:rPr lang="en-US" dirty="0"/>
              <a:t>Besides constants, the function should not depend on global variables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88497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C987-77C7-3D7F-C2AE-E12E0DD4B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1EA9B227-5507-A086-1725-227F4080AAE8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094788F6-3059-A670-E791-EA88BD645F8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54D284DA-0CE5-38E1-6773-3E984C1F4415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142DBB0-F06A-8A00-EDB0-AC06A7CB1C8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333ACE-BC4C-4CA5-9B4F-AD50F6D0B65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Environment Management and Configuration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2633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2942C-5D01-934A-1594-1CD39E8D7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Configuration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1761D-F38E-B5D6-6D23-131737BD98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Configuration files are auxiliary files with information about your script:</a:t>
            </a:r>
          </a:p>
          <a:p>
            <a:pPr lvl="1"/>
            <a:r>
              <a:rPr lang="en-US" dirty="0"/>
              <a:t>parameters</a:t>
            </a:r>
          </a:p>
          <a:p>
            <a:pPr lvl="1"/>
            <a:r>
              <a:rPr lang="en-US" dirty="0"/>
              <a:t>file directories</a:t>
            </a:r>
          </a:p>
          <a:p>
            <a:pPr lvl="1"/>
            <a:r>
              <a:rPr lang="en-US" dirty="0"/>
              <a:t>models</a:t>
            </a:r>
          </a:p>
          <a:p>
            <a:pPr lvl="1"/>
            <a:r>
              <a:rPr lang="en-US" dirty="0"/>
              <a:t>other settings and variables</a:t>
            </a:r>
          </a:p>
          <a:p>
            <a:r>
              <a:rPr lang="en-US" dirty="0"/>
              <a:t>Common types:</a:t>
            </a:r>
          </a:p>
          <a:p>
            <a:pPr lvl="1"/>
            <a:r>
              <a:rPr lang="en-US" dirty="0" err="1"/>
              <a:t>config.toml</a:t>
            </a:r>
            <a:endParaRPr lang="en-US" dirty="0"/>
          </a:p>
          <a:p>
            <a:pPr lvl="1"/>
            <a:r>
              <a:rPr lang="en-US" dirty="0" err="1"/>
              <a:t>config.yaml</a:t>
            </a:r>
            <a:endParaRPr lang="en-US" dirty="0"/>
          </a:p>
          <a:p>
            <a:pPr lvl="1"/>
            <a:r>
              <a:rPr lang="en-US" dirty="0" err="1"/>
              <a:t>config.json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2359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B025C-69CB-7F7F-1400-067C2DF5A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Configuration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3B060-4099-D211-A99D-498CCFF55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 have to do is “load” the configuration at the beginning of your script.</a:t>
            </a:r>
          </a:p>
          <a:p>
            <a:endParaRPr lang="en-US" dirty="0"/>
          </a:p>
          <a:p>
            <a:r>
              <a:rPr lang="en-US" dirty="0"/>
              <a:t>There are packages that help you with specific files.</a:t>
            </a:r>
          </a:p>
        </p:txBody>
      </p:sp>
    </p:spTree>
    <p:extLst>
      <p:ext uri="{BB962C8B-B14F-4D97-AF65-F5344CB8AC3E}">
        <p14:creationId xmlns:p14="http://schemas.microsoft.com/office/powerpoint/2010/main" val="1279843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E4E6B-8F73-B334-13E1-E7569911A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8B1FE7-5FA9-30C9-0188-ACE74A658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752600"/>
            <a:ext cx="3617686" cy="29114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B90166-41A0-3BB1-FB4C-55CB15564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6858" y="1788479"/>
            <a:ext cx="3715657" cy="28234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E41036-ECCF-3D0A-97DE-99044EF07A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8285" y="1778898"/>
            <a:ext cx="3392714" cy="28919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7BD6A57-9681-5C94-8327-6B4F150FA6A6}"/>
              </a:ext>
            </a:extLst>
          </p:cNvPr>
          <p:cNvSpPr txBox="1"/>
          <p:nvPr/>
        </p:nvSpPr>
        <p:spPr>
          <a:xfrm>
            <a:off x="9579429" y="5116285"/>
            <a:ext cx="12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config.json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E89430-EC02-2436-9AB0-2BFB46757DE5}"/>
              </a:ext>
            </a:extLst>
          </p:cNvPr>
          <p:cNvSpPr txBox="1"/>
          <p:nvPr/>
        </p:nvSpPr>
        <p:spPr>
          <a:xfrm>
            <a:off x="4985657" y="5116285"/>
            <a:ext cx="13276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config.yaml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2F2853-5673-394D-2E3E-86A58D8A8EA8}"/>
              </a:ext>
            </a:extLst>
          </p:cNvPr>
          <p:cNvSpPr txBox="1"/>
          <p:nvPr/>
        </p:nvSpPr>
        <p:spPr>
          <a:xfrm>
            <a:off x="1164771" y="5116285"/>
            <a:ext cx="1308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config.toml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31201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EF9FE-071F-5250-1F15-31B1B71BC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Secrets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B125A-759B-FB72-962D-F406E12F8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Sometimes your script may need private or sensitive information</a:t>
            </a:r>
          </a:p>
          <a:p>
            <a:r>
              <a:rPr lang="en-US" dirty="0"/>
              <a:t>For example: if using a cloud service or accessing a database, you’ll need username, password, API keys, etc.</a:t>
            </a:r>
          </a:p>
          <a:p>
            <a:r>
              <a:rPr lang="en-US" dirty="0"/>
              <a:t>DON’T write them directly on your script</a:t>
            </a:r>
          </a:p>
          <a:p>
            <a:r>
              <a:rPr lang="en-US" dirty="0"/>
              <a:t>Place in a different file (usually </a:t>
            </a:r>
            <a:r>
              <a:rPr lang="en-US" b="1" dirty="0"/>
              <a:t>.env</a:t>
            </a:r>
            <a:r>
              <a:rPr lang="en-US" dirty="0"/>
              <a:t>, and make sure that file is listed in your </a:t>
            </a:r>
            <a:r>
              <a:rPr lang="en-US" b="1" dirty="0"/>
              <a:t>.</a:t>
            </a:r>
            <a:r>
              <a:rPr lang="en-US" b="1" dirty="0" err="1"/>
              <a:t>gitignore</a:t>
            </a:r>
            <a:r>
              <a:rPr lang="en-US" dirty="0"/>
              <a:t>)</a:t>
            </a: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8049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E2F0B-7D50-8FC6-9DD6-6913F2E96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AEE8D-02A3-6305-1734-FAF4AB5E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E0C898-B91E-E533-5D34-77EF94D48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215" y="2186213"/>
            <a:ext cx="5617816" cy="2102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8606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2D1F9-7EBF-6B02-3564-1FF2B2E60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Secrets - Collaboration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6D6C8-FFBF-BCB2-E2E1-76675118D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may want to provide a template for collaborators for the .env file:</a:t>
            </a:r>
          </a:p>
          <a:p>
            <a:pPr lvl="1"/>
            <a:r>
              <a:rPr lang="en-US" dirty="0" err="1"/>
              <a:t>template.env</a:t>
            </a:r>
            <a:endParaRPr lang="en-US" dirty="0"/>
          </a:p>
          <a:p>
            <a:pPr lvl="1"/>
            <a:r>
              <a:rPr lang="en-US" dirty="0"/>
              <a:t>.</a:t>
            </a:r>
            <a:r>
              <a:rPr lang="en-US" dirty="0" err="1"/>
              <a:t>env.example</a:t>
            </a:r>
            <a:endParaRPr lang="en-US" dirty="0"/>
          </a:p>
          <a:p>
            <a:pPr lvl="1"/>
            <a:r>
              <a:rPr lang="en-US" dirty="0"/>
              <a:t>in the readme file</a:t>
            </a:r>
          </a:p>
        </p:txBody>
      </p:sp>
    </p:spTree>
    <p:extLst>
      <p:ext uri="{BB962C8B-B14F-4D97-AF65-F5344CB8AC3E}">
        <p14:creationId xmlns:p14="http://schemas.microsoft.com/office/powerpoint/2010/main" val="39397154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C84FC-645E-A4F2-E9C5-E48937FF0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0EFD42-E445-98B0-BB39-8C1CAE9BF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hardcode!</a:t>
            </a:r>
          </a:p>
          <a:p>
            <a:r>
              <a:rPr lang="en-US" dirty="0"/>
              <a:t>Save </a:t>
            </a:r>
            <a:r>
              <a:rPr lang="en-US" i="1" dirty="0"/>
              <a:t>relative paths</a:t>
            </a:r>
            <a:r>
              <a:rPr lang="en-US" dirty="0"/>
              <a:t> (relative from project’s “root”) in config files</a:t>
            </a:r>
          </a:p>
          <a:p>
            <a:r>
              <a:rPr lang="en-US" dirty="0"/>
              <a:t>Make sure script is run from project’s root</a:t>
            </a:r>
          </a:p>
          <a:p>
            <a:pPr lvl="1"/>
            <a:r>
              <a:rPr lang="en-US" dirty="0"/>
              <a:t>provide info on how to do it in readme file if necessary</a:t>
            </a:r>
          </a:p>
        </p:txBody>
      </p:sp>
    </p:spTree>
    <p:extLst>
      <p:ext uri="{BB962C8B-B14F-4D97-AF65-F5344CB8AC3E}">
        <p14:creationId xmlns:p14="http://schemas.microsoft.com/office/powerpoint/2010/main" val="17303804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516B4-D7CF-910D-ADB0-3E7C2B622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Scripts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E1A8B4-A7EA-F98B-F5D2-A6C43C89E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run a script, it will do so from the “current working directory” (</a:t>
            </a:r>
            <a:r>
              <a:rPr lang="en-US" dirty="0" err="1"/>
              <a:t>cwd</a:t>
            </a:r>
            <a:r>
              <a:rPr lang="en-US" dirty="0"/>
              <a:t>)</a:t>
            </a:r>
          </a:p>
          <a:p>
            <a:r>
              <a:rPr lang="en-US" dirty="0"/>
              <a:t>Your relative paths work based on the </a:t>
            </a:r>
            <a:r>
              <a:rPr lang="en-US" dirty="0" err="1"/>
              <a:t>cwd</a:t>
            </a:r>
            <a:endParaRPr lang="en-US" dirty="0"/>
          </a:p>
          <a:p>
            <a:r>
              <a:rPr lang="en-US" dirty="0"/>
              <a:t>The “play” button in your IDEs usually runs from </a:t>
            </a:r>
            <a:r>
              <a:rPr lang="en-US" dirty="0" err="1"/>
              <a:t>cwd</a:t>
            </a:r>
            <a:endParaRPr lang="en-US" dirty="0"/>
          </a:p>
          <a:p>
            <a:r>
              <a:rPr lang="en-US" dirty="0"/>
              <a:t>Strive to always run things from root</a:t>
            </a:r>
          </a:p>
          <a:p>
            <a:pPr lvl="1"/>
            <a:r>
              <a:rPr lang="en-US" dirty="0"/>
              <a:t>this may not always be possible: e.g., </a:t>
            </a:r>
            <a:r>
              <a:rPr lang="en-US" dirty="0" err="1"/>
              <a:t>jupyter</a:t>
            </a:r>
            <a:r>
              <a:rPr lang="en-US" dirty="0"/>
              <a:t> notebooks, when testing</a:t>
            </a:r>
            <a:r>
              <a:rPr lang="en-US"/>
              <a:t>, etc.</a:t>
            </a:r>
            <a:endParaRPr lang="en-US" dirty="0"/>
          </a:p>
          <a:p>
            <a:r>
              <a:rPr lang="en-US" dirty="0"/>
              <a:t>I personally like to run my scripts directly from the terminal, where I can control everything</a:t>
            </a:r>
          </a:p>
          <a:p>
            <a:pPr lvl="1"/>
            <a:r>
              <a:rPr lang="en-US" dirty="0">
                <a:solidFill>
                  <a:schemeClr val="accent3"/>
                </a:solidFill>
              </a:rPr>
              <a:t>Live example</a:t>
            </a:r>
          </a:p>
        </p:txBody>
      </p:sp>
    </p:spTree>
    <p:extLst>
      <p:ext uri="{BB962C8B-B14F-4D97-AF65-F5344CB8AC3E}">
        <p14:creationId xmlns:p14="http://schemas.microsoft.com/office/powerpoint/2010/main" val="36098359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02878-5D76-1F5C-BF6C-BF53CC1A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A901-9C63-ED49-0E81-67C6CBFBA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Take a few minutes to think about one of your current projects, and the parameters, settings, etc. that it depends on.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Think about how you would pull these out from the script and place them in a configuration file</a:t>
            </a:r>
          </a:p>
          <a:p>
            <a:r>
              <a:rPr lang="en-US" dirty="0"/>
              <a:t>Don’t worry about specific syntax of your config file. Focus on how you would organize these params, and how they are likely to change for different runs / use cases.</a:t>
            </a:r>
          </a:p>
        </p:txBody>
      </p:sp>
    </p:spTree>
    <p:extLst>
      <p:ext uri="{BB962C8B-B14F-4D97-AF65-F5344CB8AC3E}">
        <p14:creationId xmlns:p14="http://schemas.microsoft.com/office/powerpoint/2010/main" val="8076769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89DEE-779A-529E-A97F-0DB2E95A7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22C55C0-F012-0482-16AA-B90C7CF5C0B8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81749A6-27E7-BC9C-7BFF-A99947C8B4A8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2C8BABA0-8B12-BB55-0E1A-C26F2E336D9D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241DECF3-7068-9149-291B-67AF1DE7AA02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AE959C-E4A1-7AA5-B746-AF1616BC676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Reliability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41713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D18AE-2A6E-1707-3EFC-4C9B25F8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F6A9B-38C0-37D0-0C83-D03DF1399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Debugging Tools in your IDEs</a:t>
            </a:r>
          </a:p>
          <a:p>
            <a:pPr lvl="1"/>
            <a:r>
              <a:rPr lang="en-US" dirty="0"/>
              <a:t>checkpoints</a:t>
            </a:r>
          </a:p>
          <a:p>
            <a:r>
              <a:rPr lang="en-US" dirty="0"/>
              <a:t>Printing</a:t>
            </a:r>
          </a:p>
          <a:p>
            <a:pPr lvl="1"/>
            <a:r>
              <a:rPr lang="en-US" dirty="0"/>
              <a:t>while debugging, usually variable values </a:t>
            </a:r>
            <a:r>
              <a:rPr lang="en-US" i="1" dirty="0"/>
              <a:t>and types</a:t>
            </a:r>
          </a:p>
          <a:p>
            <a:r>
              <a:rPr lang="en-US" dirty="0"/>
              <a:t>Logging</a:t>
            </a:r>
          </a:p>
          <a:p>
            <a:pPr lvl="1"/>
            <a:r>
              <a:rPr lang="en-US" dirty="0"/>
              <a:t>for a full simulation run, record important milestones of the process</a:t>
            </a:r>
          </a:p>
          <a:p>
            <a:r>
              <a:rPr lang="en-US" dirty="0"/>
              <a:t>Tracing</a:t>
            </a:r>
          </a:p>
          <a:p>
            <a:pPr lvl="1"/>
            <a:r>
              <a:rPr lang="en-US" dirty="0"/>
              <a:t>full execution summary, usually through some package</a:t>
            </a:r>
          </a:p>
          <a:p>
            <a:r>
              <a:rPr lang="en-US" dirty="0"/>
              <a:t>Rubber ducking</a:t>
            </a:r>
          </a:p>
          <a:p>
            <a:pPr lvl="1"/>
            <a:r>
              <a:rPr lang="en-US" dirty="0"/>
              <a:t>Explain the process to a person (or a rubber duck)</a:t>
            </a:r>
          </a:p>
          <a:p>
            <a:r>
              <a:rPr lang="en-US" dirty="0"/>
              <a:t>Comment pieces of code to isolate the problem</a:t>
            </a:r>
          </a:p>
        </p:txBody>
      </p:sp>
    </p:spTree>
    <p:extLst>
      <p:ext uri="{BB962C8B-B14F-4D97-AF65-F5344CB8AC3E}">
        <p14:creationId xmlns:p14="http://schemas.microsoft.com/office/powerpoint/2010/main" val="16534071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18EC4-DE29-216D-3341-355FF4B03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676DD-579A-06B7-7557-7C7B04A00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Common failure patterns:</a:t>
            </a:r>
          </a:p>
          <a:p>
            <a:r>
              <a:rPr lang="en-US" dirty="0"/>
              <a:t>syntax</a:t>
            </a:r>
          </a:p>
          <a:p>
            <a:pPr lvl="1"/>
            <a:r>
              <a:rPr lang="en-US" dirty="0"/>
              <a:t>won’t run at all</a:t>
            </a:r>
          </a:p>
          <a:p>
            <a:pPr lvl="1"/>
            <a:r>
              <a:rPr lang="en-US" dirty="0"/>
              <a:t>e.g., forgot comma</a:t>
            </a:r>
          </a:p>
          <a:p>
            <a:r>
              <a:rPr lang="en-US" dirty="0"/>
              <a:t>runtime</a:t>
            </a:r>
          </a:p>
          <a:p>
            <a:pPr lvl="1"/>
            <a:r>
              <a:rPr lang="en-US" dirty="0"/>
              <a:t>variable type</a:t>
            </a:r>
          </a:p>
          <a:p>
            <a:pPr lvl="1"/>
            <a:r>
              <a:rPr lang="en-US" dirty="0"/>
              <a:t>e.g., string instead of integer</a:t>
            </a:r>
          </a:p>
          <a:p>
            <a:pPr lvl="1"/>
            <a:r>
              <a:rPr lang="en-US" dirty="0"/>
              <a:t>variable conflict</a:t>
            </a:r>
          </a:p>
          <a:p>
            <a:pPr lvl="1"/>
            <a:r>
              <a:rPr lang="en-US" dirty="0"/>
              <a:t>unfinished function calls </a:t>
            </a:r>
            <a:r>
              <a:rPr lang="en-US" dirty="0" err="1"/>
              <a:t>my_function</a:t>
            </a:r>
            <a:r>
              <a:rPr lang="en-US" dirty="0"/>
              <a:t> vs </a:t>
            </a:r>
            <a:r>
              <a:rPr lang="en-US" dirty="0" err="1"/>
              <a:t>my_function</a:t>
            </a:r>
            <a:r>
              <a:rPr lang="en-US" dirty="0"/>
              <a:t>()</a:t>
            </a:r>
          </a:p>
          <a:p>
            <a:r>
              <a:rPr lang="en-US" dirty="0"/>
              <a:t>logic</a:t>
            </a:r>
          </a:p>
          <a:p>
            <a:pPr lvl="1"/>
            <a:r>
              <a:rPr lang="en-US" dirty="0"/>
              <a:t>runs but results are wrong!</a:t>
            </a:r>
          </a:p>
          <a:p>
            <a:pPr lvl="1"/>
            <a:r>
              <a:rPr lang="en-US" dirty="0"/>
              <a:t>e.g., loops (are objects deleted, created, and iterated over correctly?)</a:t>
            </a:r>
          </a:p>
        </p:txBody>
      </p:sp>
    </p:spTree>
    <p:extLst>
      <p:ext uri="{BB962C8B-B14F-4D97-AF65-F5344CB8AC3E}">
        <p14:creationId xmlns:p14="http://schemas.microsoft.com/office/powerpoint/2010/main" val="407283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5E36C-2A91-E624-CFD3-6B7C1E018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30754-E796-A7FE-92D4-ED2DDF409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1901371"/>
          </a:xfrm>
        </p:spPr>
        <p:txBody>
          <a:bodyPr/>
          <a:lstStyle/>
          <a:p>
            <a:r>
              <a:rPr lang="en-US" dirty="0"/>
              <a:t>“catch” expected errors and control them</a:t>
            </a:r>
          </a:p>
          <a:p>
            <a:pPr lvl="1"/>
            <a:r>
              <a:rPr lang="en-US" dirty="0"/>
              <a:t>e.g., if number not in allowed range, print useful message and exit</a:t>
            </a:r>
          </a:p>
          <a:p>
            <a:r>
              <a:rPr lang="en-US" dirty="0"/>
              <a:t>don’t catch everything!</a:t>
            </a:r>
          </a:p>
          <a:p>
            <a:pPr lvl="1"/>
            <a:r>
              <a:rPr lang="en-US" dirty="0"/>
              <a:t>it may hide certain bugs in other sections of your pipeline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2F186B-1ED4-2556-B2AF-5AF88941F5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493" y="3951514"/>
            <a:ext cx="6291681" cy="17571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7566B68-A556-0163-2E2A-08C7C6C5FF28}"/>
              </a:ext>
            </a:extLst>
          </p:cNvPr>
          <p:cNvSpPr txBox="1"/>
          <p:nvPr/>
        </p:nvSpPr>
        <p:spPr>
          <a:xfrm>
            <a:off x="3145972" y="5954485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Good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835712-E166-BB85-4A9C-41E57090A233}"/>
              </a:ext>
            </a:extLst>
          </p:cNvPr>
          <p:cNvSpPr txBox="1"/>
          <p:nvPr/>
        </p:nvSpPr>
        <p:spPr>
          <a:xfrm>
            <a:off x="9405258" y="5954485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Bad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8C310E-6368-3E55-754D-B55FF180A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113" y="4297320"/>
            <a:ext cx="5197929" cy="113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4139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7124-5891-5B77-33D7-21DD4D94A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0438C-DEFA-6FA5-91F5-4A9C87B844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4994506"/>
          </a:xfrm>
        </p:spPr>
        <p:txBody>
          <a:bodyPr/>
          <a:lstStyle/>
          <a:p>
            <a:r>
              <a:rPr lang="en-US" b="1" dirty="0"/>
              <a:t>Unit testing</a:t>
            </a:r>
          </a:p>
          <a:p>
            <a:pPr lvl="1"/>
            <a:r>
              <a:rPr lang="en-US" dirty="0"/>
              <a:t>Test individual functions and sections of the code (“units”)</a:t>
            </a:r>
          </a:p>
          <a:p>
            <a:r>
              <a:rPr lang="en-US" dirty="0"/>
              <a:t>Consider extreme (“edge”) cases for inputs to your functions</a:t>
            </a:r>
          </a:p>
          <a:p>
            <a:pPr lvl="1"/>
            <a:r>
              <a:rPr lang="en-US" dirty="0"/>
              <a:t>numbers: very small, very large, negative</a:t>
            </a:r>
          </a:p>
          <a:p>
            <a:pPr lvl="1"/>
            <a:r>
              <a:rPr lang="en-US" dirty="0"/>
              <a:t>collections: empty</a:t>
            </a:r>
          </a:p>
          <a:p>
            <a:pPr lvl="1"/>
            <a:r>
              <a:rPr lang="en-US" dirty="0"/>
              <a:t>wrong type: string to a math function</a:t>
            </a:r>
          </a:p>
          <a:p>
            <a:r>
              <a:rPr lang="en-US" dirty="0"/>
              <a:t>Have a dedicated folder for testing scripts and results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4260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4D130-FD76-0C06-D697-EFC683427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0AEE2-299F-F739-6C7A-D6D5CAFB5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languages have dedicated packages / libraries for testing.</a:t>
            </a:r>
          </a:p>
          <a:p>
            <a:r>
              <a:rPr lang="en-US" dirty="0"/>
              <a:t>These packages streamline the testing procedure, and provide a specific framework for creating these tests</a:t>
            </a:r>
          </a:p>
          <a:p>
            <a:pPr lvl="1"/>
            <a:r>
              <a:rPr lang="en-US" dirty="0"/>
              <a:t>ex: creating individual functions for each test, all in one script</a:t>
            </a:r>
          </a:p>
          <a:p>
            <a:r>
              <a:rPr lang="en-US" dirty="0"/>
              <a:t>Different packages have different testing frameworks. You’ll need to do a bit of research on how it’s done in yours.</a:t>
            </a:r>
          </a:p>
        </p:txBody>
      </p:sp>
    </p:spTree>
    <p:extLst>
      <p:ext uri="{BB962C8B-B14F-4D97-AF65-F5344CB8AC3E}">
        <p14:creationId xmlns:p14="http://schemas.microsoft.com/office/powerpoint/2010/main" val="3578532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584B4-5125-BBA9-5CF4-A4AA61EDC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EB424-1712-E0FD-BE64-642957C64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my function computes the area of a rectangle. Build these tests:</a:t>
            </a:r>
          </a:p>
          <a:p>
            <a:r>
              <a:rPr lang="en-US" dirty="0"/>
              <a:t>area(1,1) = 1</a:t>
            </a:r>
          </a:p>
          <a:p>
            <a:r>
              <a:rPr lang="en-US" dirty="0"/>
              <a:t>area(-1,1) should tell me the value is not allowed</a:t>
            </a:r>
          </a:p>
          <a:p>
            <a:r>
              <a:rPr lang="en-US" dirty="0"/>
              <a:t>area(-1,-1) should NOT give “1” as a result</a:t>
            </a:r>
          </a:p>
        </p:txBody>
      </p:sp>
    </p:spTree>
    <p:extLst>
      <p:ext uri="{BB962C8B-B14F-4D97-AF65-F5344CB8AC3E}">
        <p14:creationId xmlns:p14="http://schemas.microsoft.com/office/powerpoint/2010/main" val="2403038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2CD50-DFAD-0CCA-9A53-555399BBB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DDF4A-9780-D8B8-C783-7BCD4FE44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Discuss with your neighbor.</a:t>
            </a:r>
          </a:p>
          <a:p>
            <a:pPr marL="0" indent="0">
              <a:buNone/>
            </a:pPr>
            <a:r>
              <a:rPr lang="en-US" dirty="0"/>
              <a:t>Pick one or two of the functions below, what sort of unit tests would you do for such function? Feel free to interpret what they do according to your field.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 err="1"/>
              <a:t>standardize_participant_name</a:t>
            </a:r>
            <a:r>
              <a:rPr lang="en-US" dirty="0"/>
              <a:t>()</a:t>
            </a:r>
          </a:p>
          <a:p>
            <a:r>
              <a:rPr lang="en-US" dirty="0" err="1"/>
              <a:t>clean_signal</a:t>
            </a:r>
            <a:r>
              <a:rPr lang="en-US" dirty="0"/>
              <a:t>()</a:t>
            </a:r>
          </a:p>
          <a:p>
            <a:r>
              <a:rPr lang="en-US" dirty="0" err="1"/>
              <a:t>validate_survey</a:t>
            </a:r>
            <a:r>
              <a:rPr lang="en-US" dirty="0"/>
              <a:t>()</a:t>
            </a:r>
          </a:p>
          <a:p>
            <a:r>
              <a:rPr lang="en-US" dirty="0" err="1"/>
              <a:t>merge_trials_with_metadata</a:t>
            </a:r>
            <a:r>
              <a:rPr lang="en-US" dirty="0"/>
              <a:t>()</a:t>
            </a:r>
          </a:p>
          <a:p>
            <a:r>
              <a:rPr lang="en-US" dirty="0" err="1"/>
              <a:t>align_signals</a:t>
            </a:r>
            <a:r>
              <a:rPr lang="en-US" dirty="0"/>
              <a:t>()</a:t>
            </a:r>
          </a:p>
          <a:p>
            <a:r>
              <a:rPr lang="en-US" dirty="0" err="1"/>
              <a:t>detect_outliers</a:t>
            </a:r>
            <a:r>
              <a:rPr lang="en-US" dirty="0"/>
              <a:t>()</a:t>
            </a:r>
          </a:p>
          <a:p>
            <a:r>
              <a:rPr lang="en-US" dirty="0" err="1"/>
              <a:t>run_preprocessing</a:t>
            </a:r>
            <a:r>
              <a:rPr lang="en-US" dirty="0"/>
              <a:t>()</a:t>
            </a:r>
          </a:p>
          <a:p>
            <a:r>
              <a:rPr lang="en-US" dirty="0" err="1"/>
              <a:t>visualize_results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441099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D82F0-3D99-EC14-EAD4-8D3337E3A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C636787-2652-8F46-11CC-284540318574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E4AF3506-D93C-09BA-A09D-F1B97293420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1A9A1B5-2F17-9BA3-6B3C-8657C46D8AC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51EBCC1E-114D-51AB-5EF2-7D4C80A0550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C9BE4E-4B14-E51D-9B30-62F273BC7CF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Continuous Improvement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3646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51CF3-067C-5F37-7B23-59E0E9CDA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Debt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F8A61-8602-1000-6730-ADC11ECA9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take shortcuts while programming, you will inevitably have to go back and fix them</a:t>
            </a:r>
          </a:p>
          <a:p>
            <a:r>
              <a:rPr lang="en-US" dirty="0"/>
              <a:t>All the labor you will put into fixing things later because of today’s shortcuts is your </a:t>
            </a:r>
            <a:r>
              <a:rPr lang="en-US" i="1" dirty="0"/>
              <a:t>technical debt</a:t>
            </a:r>
            <a:endParaRPr lang="en-US" dirty="0"/>
          </a:p>
          <a:p>
            <a:r>
              <a:rPr lang="en-US" dirty="0"/>
              <a:t>While impossible to fully avoid (deadlines, project evolution, lessons learned, etc.), strive to minimize it.</a:t>
            </a:r>
          </a:p>
          <a:p>
            <a:r>
              <a:rPr lang="en-US" dirty="0"/>
              <a:t>Stay debt-free!</a:t>
            </a:r>
          </a:p>
        </p:txBody>
      </p:sp>
    </p:spTree>
    <p:extLst>
      <p:ext uri="{BB962C8B-B14F-4D97-AF65-F5344CB8AC3E}">
        <p14:creationId xmlns:p14="http://schemas.microsoft.com/office/powerpoint/2010/main" val="4789536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EB6A4-7DD6-74B4-C7BB-2C039AAB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253AA-B289-28B7-546D-FB795E3ECD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Changing the project or script structure to enhance readability and maintainability</a:t>
            </a:r>
          </a:p>
          <a:p>
            <a:r>
              <a:rPr lang="en-US" dirty="0"/>
              <a:t>BUT, without changing what your code actually </a:t>
            </a:r>
            <a:r>
              <a:rPr lang="en-US" i="1" dirty="0"/>
              <a:t>does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Don’t wait until the end. Set healthy checkpoints throughout and refactor often. Example:</a:t>
            </a:r>
          </a:p>
          <a:p>
            <a:r>
              <a:rPr lang="en-US" dirty="0"/>
              <a:t>After you’re done with a large stage (data exploration, model creation, etc.)</a:t>
            </a:r>
          </a:p>
          <a:p>
            <a:r>
              <a:rPr lang="en-US" dirty="0"/>
              <a:t>When adding new features</a:t>
            </a:r>
          </a:p>
          <a:p>
            <a:r>
              <a:rPr lang="en-US" dirty="0"/>
              <a:t>When fixing bugs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81341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A9B8C-CAFB-5B53-C556-DAE2F21CE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“smells”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0F271-0A42-5C92-C091-860DE987E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They don’t break your code, but make it unreadable, or suggest bad design:</a:t>
            </a:r>
          </a:p>
          <a:p>
            <a:r>
              <a:rPr lang="en-US" dirty="0"/>
              <a:t>Long functions and scripts</a:t>
            </a:r>
          </a:p>
          <a:p>
            <a:pPr lvl="1"/>
            <a:r>
              <a:rPr lang="en-US" dirty="0" err="1"/>
              <a:t>efrén’s</a:t>
            </a:r>
            <a:r>
              <a:rPr lang="en-US" dirty="0"/>
              <a:t> rule of thumb: two window scrolls max</a:t>
            </a:r>
          </a:p>
          <a:p>
            <a:r>
              <a:rPr lang="en-US" dirty="0"/>
              <a:t>Repeated code</a:t>
            </a:r>
          </a:p>
          <a:p>
            <a:r>
              <a:rPr lang="en-US" dirty="0"/>
              <a:t>Hard to trace a pipeline</a:t>
            </a:r>
          </a:p>
        </p:txBody>
      </p:sp>
    </p:spTree>
    <p:extLst>
      <p:ext uri="{BB962C8B-B14F-4D97-AF65-F5344CB8AC3E}">
        <p14:creationId xmlns:p14="http://schemas.microsoft.com/office/powerpoint/2010/main" val="12270736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39BD7-68E6-D6A4-81B5-D58126370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Final 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5819C-FC5A-0E42-C55F-BAA6749DE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Find a neighbor</a:t>
            </a:r>
            <a:r>
              <a:rPr lang="en-US" dirty="0"/>
              <a:t> and take a minute to explain to each other a project you’re working on. Then:</a:t>
            </a:r>
          </a:p>
          <a:p>
            <a:r>
              <a:rPr lang="en-US" dirty="0"/>
              <a:t>Discuss what structure better fits the project.</a:t>
            </a:r>
          </a:p>
          <a:p>
            <a:r>
              <a:rPr lang="en-US" dirty="0"/>
              <a:t>Discuss path dependencies, settings, parameters, constants, etc. and where in the project that information would go.</a:t>
            </a:r>
          </a:p>
          <a:p>
            <a:r>
              <a:rPr lang="en-US" dirty="0"/>
              <a:t>What common errors have you encountered, or do you anticipate could encounter? (unallowed values, variable types, etc.)</a:t>
            </a:r>
          </a:p>
          <a:p>
            <a:r>
              <a:rPr lang="en-US" dirty="0"/>
              <a:t>What sort of systematic tests would you create to make sure individual aspects of your code are running smoothly?</a:t>
            </a:r>
          </a:p>
          <a:p>
            <a:r>
              <a:rPr lang="en-US" dirty="0"/>
              <a:t>Feel free to reveal any “smelly” code practices you’ve already committed in your code.</a:t>
            </a:r>
          </a:p>
          <a:p>
            <a:r>
              <a:rPr lang="en-US" dirty="0"/>
              <a:t>Discuss tools that you’re planning to use and why they will be particularly helpful to you.</a:t>
            </a:r>
          </a:p>
        </p:txBody>
      </p:sp>
    </p:spTree>
    <p:extLst>
      <p:ext uri="{BB962C8B-B14F-4D97-AF65-F5344CB8AC3E}">
        <p14:creationId xmlns:p14="http://schemas.microsoft.com/office/powerpoint/2010/main" val="478579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E9688-19BC-34E4-A532-067AB904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3942794-5E05-291B-8543-4A8ACE2D57E2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6227CF2-B3B4-9012-17BA-5F01C0EAFE97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BEDA763-0CD2-FA7A-251F-8A1AD9BEB56C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69DDE58-8D8E-A11A-45F8-FF1B2ADD2736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C42C00-7032-1204-CA48-F326F0A9CFF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Recap</a:t>
            </a:r>
          </a:p>
        </p:txBody>
      </p:sp>
    </p:spTree>
    <p:extLst>
      <p:ext uri="{BB962C8B-B14F-4D97-AF65-F5344CB8AC3E}">
        <p14:creationId xmlns:p14="http://schemas.microsoft.com/office/powerpoint/2010/main" val="20893550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A49B-2F9B-21F9-8292-D0C3A618D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5CE3A-6028-17CF-CCD0-7202E233E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2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10F7E-1928-D439-B3C8-22A73C8315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5080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should code...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819CA1-52D6-F2F4-18BA-BB1D28E7F226}"/>
              </a:ext>
            </a:extLst>
          </p:cNvPr>
          <p:cNvSpPr txBox="1"/>
          <p:nvPr/>
        </p:nvSpPr>
        <p:spPr>
          <a:xfrm>
            <a:off x="934358" y="2336800"/>
            <a:ext cx="18035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structured?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D1FFE-B106-A8DF-5560-AB6C0E968CBF}"/>
              </a:ext>
            </a:extLst>
          </p:cNvPr>
          <p:cNvSpPr txBox="1"/>
          <p:nvPr/>
        </p:nvSpPr>
        <p:spPr>
          <a:xfrm>
            <a:off x="2997200" y="5010150"/>
            <a:ext cx="20056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Code Quality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48BB40-F91C-B190-1CF2-E9BE55C54538}"/>
              </a:ext>
            </a:extLst>
          </p:cNvPr>
          <p:cNvSpPr txBox="1"/>
          <p:nvPr/>
        </p:nvSpPr>
        <p:spPr>
          <a:xfrm>
            <a:off x="5313513" y="2336800"/>
            <a:ext cx="16784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managed?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472331-8392-08CA-CC19-DB584205FF17}"/>
              </a:ext>
            </a:extLst>
          </p:cNvPr>
          <p:cNvSpPr txBox="1"/>
          <p:nvPr/>
        </p:nvSpPr>
        <p:spPr>
          <a:xfrm>
            <a:off x="7416800" y="2336800"/>
            <a:ext cx="18169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work properly?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28CCAE-08D1-A89E-0F72-6BEE0BC93F62}"/>
              </a:ext>
            </a:extLst>
          </p:cNvPr>
          <p:cNvSpPr txBox="1"/>
          <p:nvPr/>
        </p:nvSpPr>
        <p:spPr>
          <a:xfrm>
            <a:off x="9652000" y="2336800"/>
            <a:ext cx="1642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stay healthy?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2D2ED9-117B-F838-56EB-21F0782560C6}"/>
              </a:ext>
            </a:extLst>
          </p:cNvPr>
          <p:cNvSpPr txBox="1"/>
          <p:nvPr/>
        </p:nvSpPr>
        <p:spPr>
          <a:xfrm>
            <a:off x="850900" y="5010150"/>
            <a:ext cx="1931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Architecture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152EA1-17EB-31D7-4244-70693DF59266}"/>
              </a:ext>
            </a:extLst>
          </p:cNvPr>
          <p:cNvSpPr txBox="1"/>
          <p:nvPr/>
        </p:nvSpPr>
        <p:spPr>
          <a:xfrm>
            <a:off x="3312888" y="2336800"/>
            <a:ext cx="1412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written?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F2334A-A160-AF71-5E27-ACE57D4D7FF7}"/>
              </a:ext>
            </a:extLst>
          </p:cNvPr>
          <p:cNvSpPr txBox="1"/>
          <p:nvPr/>
        </p:nvSpPr>
        <p:spPr>
          <a:xfrm>
            <a:off x="5194300" y="5010150"/>
            <a:ext cx="2095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Configuration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0AB1E2-EB03-8581-020D-D47E62E7CBAD}"/>
              </a:ext>
            </a:extLst>
          </p:cNvPr>
          <p:cNvSpPr txBox="1"/>
          <p:nvPr/>
        </p:nvSpPr>
        <p:spPr>
          <a:xfrm>
            <a:off x="7543800" y="5010150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Reliability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BB1868-9D65-AF2A-9E7E-5E7E882C4F04}"/>
              </a:ext>
            </a:extLst>
          </p:cNvPr>
          <p:cNvSpPr txBox="1"/>
          <p:nvPr/>
        </p:nvSpPr>
        <p:spPr>
          <a:xfrm>
            <a:off x="9385301" y="4825484"/>
            <a:ext cx="2235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Continuous Improvement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49AD887-11B7-5705-8693-1DD908FE6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50" y="2836134"/>
            <a:ext cx="1836871" cy="18770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23F8C91-F4F9-6DFA-0548-AFF2BFE3ED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316" y="2866554"/>
            <a:ext cx="1786683" cy="181618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0201C92-4E94-6B08-9335-917C3888E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4394" y="2871586"/>
            <a:ext cx="1776646" cy="180611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55D1602-BBB3-32AC-1867-24EEF0F7C7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7435" y="2866247"/>
            <a:ext cx="1795621" cy="181679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544ADAC-CC43-D38D-BA84-0C7948E368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9450" y="2871973"/>
            <a:ext cx="1784350" cy="180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7510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C3D64-5957-BEA5-B5E3-AFEF81771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52081-B4F4-4A18-AC41-ABE88E393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Draft the logical structure of your code.</a:t>
            </a:r>
          </a:p>
          <a:p>
            <a:pPr lvl="1"/>
            <a:r>
              <a:rPr lang="en-US" dirty="0"/>
              <a:t>Group by stages, tasks, etc.</a:t>
            </a:r>
          </a:p>
          <a:p>
            <a:r>
              <a:rPr lang="en-US" dirty="0"/>
              <a:t>Make sure there are no magic numbers!</a:t>
            </a:r>
          </a:p>
          <a:p>
            <a:r>
              <a:rPr lang="en-US" dirty="0"/>
              <a:t>Follow standard conventions in your language / field regarding naming variables, files, etc.</a:t>
            </a:r>
          </a:p>
          <a:p>
            <a:r>
              <a:rPr lang="en-US" dirty="0"/>
              <a:t>If your code is longer than 2-3 scrolls, you likely need to refactor into smaller modules</a:t>
            </a:r>
          </a:p>
          <a:p>
            <a:r>
              <a:rPr lang="en-US" dirty="0"/>
              <a:t>Use configuration files!</a:t>
            </a:r>
          </a:p>
          <a:p>
            <a:pPr lvl="1"/>
            <a:r>
              <a:rPr lang="en-US" dirty="0"/>
              <a:t>Externalize any variables outside the logical flow of your process.</a:t>
            </a:r>
          </a:p>
          <a:p>
            <a:r>
              <a:rPr lang="en-US" dirty="0"/>
              <a:t>Add unit tests</a:t>
            </a:r>
          </a:p>
        </p:txBody>
      </p:sp>
    </p:spTree>
    <p:extLst>
      <p:ext uri="{BB962C8B-B14F-4D97-AF65-F5344CB8AC3E}">
        <p14:creationId xmlns:p14="http://schemas.microsoft.com/office/powerpoint/2010/main" val="6163147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C4952-46DF-B388-2A57-28E6DBCC8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6004A9F-A3A1-91D7-51DF-0F9667F49901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1FC1A02-775F-925B-8D65-685BEF7791D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795A95C7-6952-1BD3-DDC2-7489DC24D4C6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D9E26B57-49C3-8597-9B3E-369EA7050E6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2F83FF-5DEA-7940-D90F-0D761953DAC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9443981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41450</TotalTime>
  <Words>2184</Words>
  <Application>Microsoft Macintosh PowerPoint</Application>
  <PresentationFormat>Widescreen</PresentationFormat>
  <Paragraphs>327</Paragraphs>
  <Slides>54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9" baseType="lpstr">
      <vt:lpstr>Aptos</vt:lpstr>
      <vt:lpstr>Aptos Display</vt:lpstr>
      <vt:lpstr>Arial</vt:lpstr>
      <vt:lpstr>Wingdings</vt:lpstr>
      <vt:lpstr>Office Theme</vt:lpstr>
      <vt:lpstr>The Researcher’s Guide to Code Organization</vt:lpstr>
      <vt:lpstr>PowerPoint Presentation</vt:lpstr>
      <vt:lpstr>Does this sound familiar?</vt:lpstr>
      <vt:lpstr>Motivation</vt:lpstr>
      <vt:lpstr>Day 2 Overview</vt:lpstr>
      <vt:lpstr>General Principles</vt:lpstr>
      <vt:lpstr>PowerPoint Presentation</vt:lpstr>
      <vt:lpstr>Separation of Concerns</vt:lpstr>
      <vt:lpstr>Modularity</vt:lpstr>
      <vt:lpstr>Analogy - LEGO</vt:lpstr>
      <vt:lpstr>Code reuse</vt:lpstr>
      <vt:lpstr>Example</vt:lpstr>
      <vt:lpstr>Example</vt:lpstr>
      <vt:lpstr>Example</vt:lpstr>
      <vt:lpstr>Hierarchy</vt:lpstr>
      <vt:lpstr>Example – flat script</vt:lpstr>
      <vt:lpstr>Example – modular script</vt:lpstr>
      <vt:lpstr>Exercise</vt:lpstr>
      <vt:lpstr>PowerPoint Presentation</vt:lpstr>
      <vt:lpstr>Naming Conventions</vt:lpstr>
      <vt:lpstr>Code Annotations</vt:lpstr>
      <vt:lpstr>Example</vt:lpstr>
      <vt:lpstr>Magic Numbers and Constants</vt:lpstr>
      <vt:lpstr>Example</vt:lpstr>
      <vt:lpstr>Scope</vt:lpstr>
      <vt:lpstr>Scope</vt:lpstr>
      <vt:lpstr>Exercise</vt:lpstr>
      <vt:lpstr>PowerPoint Presentation</vt:lpstr>
      <vt:lpstr>Configuration Files</vt:lpstr>
      <vt:lpstr>Configuration Files</vt:lpstr>
      <vt:lpstr>Example</vt:lpstr>
      <vt:lpstr>Secrets</vt:lpstr>
      <vt:lpstr>Example</vt:lpstr>
      <vt:lpstr>Secrets - Collaboration</vt:lpstr>
      <vt:lpstr>Path Management</vt:lpstr>
      <vt:lpstr>Running Scripts</vt:lpstr>
      <vt:lpstr>Exercise</vt:lpstr>
      <vt:lpstr>PowerPoint Presentation</vt:lpstr>
      <vt:lpstr>Debugging Strategies</vt:lpstr>
      <vt:lpstr>Errors</vt:lpstr>
      <vt:lpstr>Error Handling</vt:lpstr>
      <vt:lpstr>Testing</vt:lpstr>
      <vt:lpstr>Testing</vt:lpstr>
      <vt:lpstr>Example</vt:lpstr>
      <vt:lpstr>Exercise</vt:lpstr>
      <vt:lpstr>PowerPoint Presentation</vt:lpstr>
      <vt:lpstr>Technical Debt</vt:lpstr>
      <vt:lpstr>Refactoring</vt:lpstr>
      <vt:lpstr>Code “smells”</vt:lpstr>
      <vt:lpstr>Final Exercise</vt:lpstr>
      <vt:lpstr>PowerPoint Presentation</vt:lpstr>
      <vt:lpstr>Day 2 Overview</vt:lpstr>
      <vt:lpstr>Checklist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Efren Nauvoo Cruz Cortes</dc:creator>
  <cp:lastModifiedBy>Efren Nauvoo Cruz Cortes</cp:lastModifiedBy>
  <cp:revision>102</cp:revision>
  <dcterms:created xsi:type="dcterms:W3CDTF">2025-02-20T19:47:28Z</dcterms:created>
  <dcterms:modified xsi:type="dcterms:W3CDTF">2026-02-24T23:00:18Z</dcterms:modified>
</cp:coreProperties>
</file>